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75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89129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D4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2D4A"/>
          </a:solidFill>
          <a:ln w="12700">
            <a:solidFill>
              <a:srgbClr val="0B2D4A"/>
            </a:solidFill>
            <a:prstDash val="solid"/>
          </a:ln>
        </p:spPr>
        <p:txBody>
          <a:bodyPr/>
          <a:lstStyle/>
          <a:p>
            <a:endParaRPr lang="es-CL"/>
          </a:p>
        </p:txBody>
      </p:sp>
      <p:sp>
        <p:nvSpPr>
          <p:cNvPr id="3" name="Shape 1"/>
          <p:cNvSpPr/>
          <p:nvPr/>
        </p:nvSpPr>
        <p:spPr>
          <a:xfrm>
            <a:off x="0" y="0"/>
            <a:ext cx="12191695" cy="219456"/>
          </a:xfrm>
          <a:prstGeom prst="rect">
            <a:avLst/>
          </a:prstGeom>
          <a:solidFill>
            <a:srgbClr val="F6B700"/>
          </a:solidFill>
          <a:ln w="12700">
            <a:solidFill>
              <a:srgbClr val="F6B700"/>
            </a:solidFill>
            <a:prstDash val="solid"/>
          </a:ln>
        </p:spPr>
        <p:txBody>
          <a:bodyPr/>
          <a:lstStyle/>
          <a:p>
            <a:endParaRPr lang="es-CL"/>
          </a:p>
        </p:txBody>
      </p:sp>
      <p:sp>
        <p:nvSpPr>
          <p:cNvPr id="4" name="Shape 2"/>
          <p:cNvSpPr/>
          <p:nvPr/>
        </p:nvSpPr>
        <p:spPr>
          <a:xfrm>
            <a:off x="7498080" y="-1097280"/>
            <a:ext cx="5943600" cy="5943600"/>
          </a:xfrm>
          <a:prstGeom prst="arc">
            <a:avLst/>
          </a:prstGeom>
          <a:solidFill>
            <a:srgbClr val="17476C">
              <a:alpha val="80000"/>
            </a:srgbClr>
          </a:solidFill>
          <a:ln w="12700">
            <a:solidFill>
              <a:srgbClr val="17476C">
                <a:alpha val="0"/>
              </a:srgbClr>
            </a:solidFill>
            <a:prstDash val="solid"/>
          </a:ln>
        </p:spPr>
        <p:txBody>
          <a:bodyPr/>
          <a:lstStyle/>
          <a:p>
            <a:endParaRPr lang="es-CL"/>
          </a:p>
        </p:txBody>
      </p:sp>
      <p:pic>
        <p:nvPicPr>
          <p:cNvPr id="5" name="Image 0" descr="/mnt/data/work_docx/word/media/image1.png"/>
          <p:cNvPicPr>
            <a:picLocks noChangeAspect="1"/>
          </p:cNvPicPr>
          <p:nvPr/>
        </p:nvPicPr>
        <p:blipFill>
          <a:blip r:embed="rId3"/>
          <a:stretch>
            <a:fillRect/>
          </a:stretch>
        </p:blipFill>
        <p:spPr>
          <a:xfrm>
            <a:off x="685800" y="685800"/>
            <a:ext cx="2148840" cy="621792"/>
          </a:xfrm>
          <a:prstGeom prst="rect">
            <a:avLst/>
          </a:prstGeom>
        </p:spPr>
      </p:pic>
      <p:sp>
        <p:nvSpPr>
          <p:cNvPr id="6" name="Text 3"/>
          <p:cNvSpPr/>
          <p:nvPr/>
        </p:nvSpPr>
        <p:spPr>
          <a:xfrm>
            <a:off x="685800" y="1536192"/>
            <a:ext cx="5120640" cy="411480"/>
          </a:xfrm>
          <a:prstGeom prst="rect">
            <a:avLst/>
          </a:prstGeom>
          <a:noFill/>
          <a:ln/>
        </p:spPr>
        <p:txBody>
          <a:bodyPr wrap="square" lIns="254" tIns="254" rIns="254" bIns="254" rtlCol="0" anchor="ctr">
            <a:normAutofit/>
          </a:bodyPr>
          <a:lstStyle/>
          <a:p>
            <a:pPr marL="0" indent="0">
              <a:buNone/>
            </a:pPr>
            <a:r>
              <a:rPr lang="en-US" sz="2500" b="1" dirty="0">
                <a:solidFill>
                  <a:srgbClr val="F6B700"/>
                </a:solidFill>
                <a:latin typeface="Calibri" pitchFamily="34" charset="0"/>
                <a:ea typeface="Calibri" pitchFamily="34" charset="-122"/>
                <a:cs typeface="Calibri" pitchFamily="34" charset="-120"/>
              </a:rPr>
              <a:t>Evaluación Final Transversal</a:t>
            </a:r>
            <a:endParaRPr lang="en-US" sz="2500" dirty="0"/>
          </a:p>
        </p:txBody>
      </p:sp>
      <p:sp>
        <p:nvSpPr>
          <p:cNvPr id="7" name="Text 4"/>
          <p:cNvSpPr/>
          <p:nvPr/>
        </p:nvSpPr>
        <p:spPr>
          <a:xfrm>
            <a:off x="685800" y="2011680"/>
            <a:ext cx="6858000" cy="1371600"/>
          </a:xfrm>
          <a:prstGeom prst="rect">
            <a:avLst/>
          </a:prstGeom>
          <a:noFill/>
          <a:ln/>
        </p:spPr>
        <p:txBody>
          <a:bodyPr wrap="square" lIns="254" tIns="254" rIns="254" bIns="254" rtlCol="0" anchor="ctr">
            <a:normAutofit/>
          </a:bodyPr>
          <a:lstStyle/>
          <a:p>
            <a:pPr marL="0" indent="0">
              <a:buNone/>
            </a:pPr>
            <a:r>
              <a:rPr lang="en-US" sz="3800" b="1" dirty="0">
                <a:solidFill>
                  <a:srgbClr val="FFFFFF"/>
                </a:solidFill>
                <a:latin typeface="Calibri" pitchFamily="34" charset="0"/>
                <a:ea typeface="Calibri" pitchFamily="34" charset="-122"/>
                <a:cs typeface="Calibri" pitchFamily="34" charset="-120"/>
              </a:rPr>
              <a:t>Predicción de lluvia al día siguiente con weatherAUS.csv</a:t>
            </a:r>
            <a:endParaRPr lang="en-US" sz="3800" dirty="0"/>
          </a:p>
        </p:txBody>
      </p:sp>
      <p:sp>
        <p:nvSpPr>
          <p:cNvPr id="8" name="Text 5"/>
          <p:cNvSpPr/>
          <p:nvPr/>
        </p:nvSpPr>
        <p:spPr>
          <a:xfrm>
            <a:off x="713232" y="3794760"/>
            <a:ext cx="4754880" cy="914400"/>
          </a:xfrm>
          <a:prstGeom prst="rect">
            <a:avLst/>
          </a:prstGeom>
          <a:noFill/>
          <a:ln/>
        </p:spPr>
        <p:txBody>
          <a:bodyPr wrap="square" lIns="254" tIns="254" rIns="254" bIns="254" rtlCol="0" anchor="ctr">
            <a:normAutofit/>
          </a:bodyPr>
          <a:lstStyle/>
          <a:p>
            <a:pPr marL="0" indent="0">
              <a:buNone/>
            </a:pPr>
            <a:r>
              <a:rPr lang="en-US" sz="2200" dirty="0">
                <a:solidFill>
                  <a:srgbClr val="DCEAF4"/>
                </a:solidFill>
                <a:latin typeface="Calibri" pitchFamily="34" charset="0"/>
                <a:ea typeface="Calibri" pitchFamily="34" charset="-122"/>
                <a:cs typeface="Calibri" pitchFamily="34" charset="-120"/>
              </a:rPr>
              <a:t>BIY7121 - Minería de Datos</a:t>
            </a:r>
            <a:endParaRPr lang="en-US" sz="2200" dirty="0"/>
          </a:p>
          <a:p>
            <a:pPr marL="0" indent="0">
              <a:buNone/>
            </a:pPr>
            <a:r>
              <a:rPr lang="en-US" sz="2200" dirty="0">
                <a:solidFill>
                  <a:srgbClr val="DCEAF4"/>
                </a:solidFill>
                <a:latin typeface="Calibri" pitchFamily="34" charset="0"/>
                <a:ea typeface="Calibri" pitchFamily="34" charset="-122"/>
                <a:cs typeface="Calibri" pitchFamily="34" charset="-120"/>
              </a:rPr>
              <a:t>Diego Casanova / José Soto</a:t>
            </a:r>
            <a:endParaRPr lang="en-US" sz="2200" dirty="0"/>
          </a:p>
          <a:p>
            <a:pPr marL="0" indent="0">
              <a:buNone/>
            </a:pPr>
            <a:r>
              <a:rPr lang="en-US" sz="2200" dirty="0">
                <a:solidFill>
                  <a:srgbClr val="DCEAF4"/>
                </a:solidFill>
                <a:latin typeface="Calibri" pitchFamily="34" charset="0"/>
                <a:ea typeface="Calibri" pitchFamily="34" charset="-122"/>
                <a:cs typeface="Calibri" pitchFamily="34" charset="-120"/>
              </a:rPr>
              <a:t>Metodología CRISP-DM</a:t>
            </a:r>
            <a:endParaRPr lang="en-US" sz="2200" dirty="0"/>
          </a:p>
        </p:txBody>
      </p:sp>
      <p:sp>
        <p:nvSpPr>
          <p:cNvPr id="9" name="Shape 6"/>
          <p:cNvSpPr/>
          <p:nvPr/>
        </p:nvSpPr>
        <p:spPr>
          <a:xfrm>
            <a:off x="685800" y="5166360"/>
            <a:ext cx="3108960" cy="73152"/>
          </a:xfrm>
          <a:prstGeom prst="rect">
            <a:avLst/>
          </a:prstGeom>
          <a:solidFill>
            <a:srgbClr val="F6B700"/>
          </a:solidFill>
          <a:ln w="12700">
            <a:solidFill>
              <a:srgbClr val="F6B700"/>
            </a:solidFill>
            <a:prstDash val="solid"/>
          </a:ln>
        </p:spPr>
        <p:txBody>
          <a:bodyPr/>
          <a:lstStyle/>
          <a:p>
            <a:endParaRPr lang="es-CL"/>
          </a:p>
        </p:txBody>
      </p:sp>
      <p:sp>
        <p:nvSpPr>
          <p:cNvPr id="10" name="Text 7"/>
          <p:cNvSpPr/>
          <p:nvPr/>
        </p:nvSpPr>
        <p:spPr>
          <a:xfrm>
            <a:off x="685800" y="5376672"/>
            <a:ext cx="6766560" cy="594360"/>
          </a:xfrm>
          <a:prstGeom prst="rect">
            <a:avLst/>
          </a:prstGeom>
          <a:noFill/>
          <a:ln/>
        </p:spPr>
        <p:txBody>
          <a:bodyPr wrap="square" lIns="254" tIns="254" rIns="254" bIns="254" rtlCol="0" anchor="ctr">
            <a:normAutofit/>
          </a:bodyPr>
          <a:lstStyle/>
          <a:p>
            <a:pPr marL="0" indent="0">
              <a:buNone/>
            </a:pPr>
            <a:r>
              <a:rPr lang="en-US" sz="2100" b="1" dirty="0">
                <a:solidFill>
                  <a:srgbClr val="FFFFFF"/>
                </a:solidFill>
                <a:latin typeface="Calibri" pitchFamily="34" charset="0"/>
                <a:ea typeface="Calibri" pitchFamily="34" charset="-122"/>
                <a:cs typeface="Calibri" pitchFamily="34" charset="-120"/>
              </a:rPr>
              <a:t>Objetivo: anticipar RainTomorrow y convertir patrones históricos en decisiones preventivas.</a:t>
            </a:r>
            <a:endParaRPr lang="en-US" sz="2100" dirty="0"/>
          </a:p>
        </p:txBody>
      </p:sp>
      <p:sp>
        <p:nvSpPr>
          <p:cNvPr id="11" name="Shape 8"/>
          <p:cNvSpPr/>
          <p:nvPr/>
        </p:nvSpPr>
        <p:spPr>
          <a:xfrm>
            <a:off x="8321040" y="1051560"/>
            <a:ext cx="2743200" cy="2743200"/>
          </a:xfrm>
          <a:prstGeom prst="ellipse">
            <a:avLst/>
          </a:prstGeom>
          <a:solidFill>
            <a:srgbClr val="F6B700">
              <a:alpha val="95000"/>
            </a:srgbClr>
          </a:solidFill>
          <a:ln w="12700">
            <a:solidFill>
              <a:srgbClr val="F6B700">
                <a:alpha val="0"/>
              </a:srgbClr>
            </a:solidFill>
            <a:prstDash val="solid"/>
          </a:ln>
        </p:spPr>
        <p:txBody>
          <a:bodyPr/>
          <a:lstStyle/>
          <a:p>
            <a:endParaRPr lang="es-CL"/>
          </a:p>
        </p:txBody>
      </p:sp>
      <p:sp>
        <p:nvSpPr>
          <p:cNvPr id="12" name="Text 9"/>
          <p:cNvSpPr/>
          <p:nvPr/>
        </p:nvSpPr>
        <p:spPr>
          <a:xfrm>
            <a:off x="8641080" y="1691640"/>
            <a:ext cx="2286000" cy="1097280"/>
          </a:xfrm>
          <a:prstGeom prst="rect">
            <a:avLst/>
          </a:prstGeom>
          <a:noFill/>
          <a:ln/>
        </p:spPr>
        <p:txBody>
          <a:bodyPr wrap="square" lIns="635" tIns="635" rIns="635" bIns="635" rtlCol="0" anchor="ctr"/>
          <a:lstStyle/>
          <a:p>
            <a:pPr marL="0" indent="0" algn="ctr">
              <a:buNone/>
            </a:pPr>
            <a:r>
              <a:rPr lang="en-US" sz="2800" b="1" dirty="0">
                <a:solidFill>
                  <a:srgbClr val="0B2D4A"/>
                </a:solidFill>
              </a:rPr>
              <a:t>Rain</a:t>
            </a:r>
            <a:endParaRPr lang="en-US" sz="2800" dirty="0"/>
          </a:p>
          <a:p>
            <a:pPr marL="0" indent="0" algn="ctr">
              <a:buNone/>
            </a:pPr>
            <a:r>
              <a:rPr lang="en-US" sz="2800" b="1" dirty="0">
                <a:solidFill>
                  <a:srgbClr val="0B2D4A"/>
                </a:solidFill>
              </a:rPr>
              <a:t>Tomorrow</a:t>
            </a:r>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s-CL"/>
          </a:p>
        </p:txBody>
      </p:sp>
      <p:sp>
        <p:nvSpPr>
          <p:cNvPr id="3" name="Shape 1"/>
          <p:cNvSpPr/>
          <p:nvPr/>
        </p:nvSpPr>
        <p:spPr>
          <a:xfrm>
            <a:off x="0" y="0"/>
            <a:ext cx="12191695" cy="164592"/>
          </a:xfrm>
          <a:prstGeom prst="rect">
            <a:avLst/>
          </a:prstGeom>
          <a:solidFill>
            <a:srgbClr val="F6B700"/>
          </a:solidFill>
          <a:ln w="12700">
            <a:solidFill>
              <a:srgbClr val="F6B700"/>
            </a:solidFill>
            <a:prstDash val="solid"/>
          </a:ln>
        </p:spPr>
        <p:txBody>
          <a:bodyPr/>
          <a:lstStyle/>
          <a:p>
            <a:endParaRPr lang="es-CL"/>
          </a:p>
        </p:txBody>
      </p:sp>
      <p:sp>
        <p:nvSpPr>
          <p:cNvPr id="4" name="Shape 2"/>
          <p:cNvSpPr/>
          <p:nvPr/>
        </p:nvSpPr>
        <p:spPr>
          <a:xfrm>
            <a:off x="0" y="164592"/>
            <a:ext cx="12191695" cy="54864"/>
          </a:xfrm>
          <a:prstGeom prst="rect">
            <a:avLst/>
          </a:prstGeom>
          <a:solidFill>
            <a:srgbClr val="0B2D4A"/>
          </a:solidFill>
          <a:ln w="12700">
            <a:solidFill>
              <a:srgbClr val="0B2D4A"/>
            </a:solidFill>
            <a:prstDash val="solid"/>
          </a:ln>
        </p:spPr>
        <p:txBody>
          <a:bodyPr/>
          <a:lstStyle/>
          <a:p>
            <a:endParaRPr lang="es-CL"/>
          </a:p>
        </p:txBody>
      </p:sp>
      <p:pic>
        <p:nvPicPr>
          <p:cNvPr id="5" name="Image 0" descr="/mnt/data/work_docx/word/media/image1.png"/>
          <p:cNvPicPr>
            <a:picLocks noChangeAspect="1"/>
          </p:cNvPicPr>
          <p:nvPr/>
        </p:nvPicPr>
        <p:blipFill>
          <a:blip r:embed="rId3"/>
          <a:stretch>
            <a:fillRect/>
          </a:stretch>
        </p:blipFill>
        <p:spPr>
          <a:xfrm>
            <a:off x="10149840" y="402336"/>
            <a:ext cx="1325880" cy="384048"/>
          </a:xfrm>
          <a:prstGeom prst="rect">
            <a:avLst/>
          </a:prstGeom>
        </p:spPr>
      </p:pic>
      <p:sp>
        <p:nvSpPr>
          <p:cNvPr id="6" name="Text 3"/>
          <p:cNvSpPr/>
          <p:nvPr/>
        </p:nvSpPr>
        <p:spPr>
          <a:xfrm>
            <a:off x="594360" y="502920"/>
            <a:ext cx="8138160" cy="502920"/>
          </a:xfrm>
          <a:prstGeom prst="rect">
            <a:avLst/>
          </a:prstGeom>
          <a:noFill/>
          <a:ln/>
        </p:spPr>
        <p:txBody>
          <a:bodyPr wrap="square" lIns="254" tIns="254" rIns="254" bIns="254" rtlCol="0" anchor="ctr">
            <a:normAutofit/>
          </a:bodyPr>
          <a:lstStyle/>
          <a:p>
            <a:pPr marL="0" indent="0">
              <a:buNone/>
            </a:pPr>
            <a:r>
              <a:rPr lang="en-US" sz="2800" b="1" dirty="0">
                <a:solidFill>
                  <a:srgbClr val="0B2D4A"/>
                </a:solidFill>
                <a:latin typeface="Calibri" pitchFamily="34" charset="0"/>
                <a:ea typeface="Calibri" pitchFamily="34" charset="-122"/>
                <a:cs typeface="Calibri" pitchFamily="34" charset="-120"/>
              </a:rPr>
              <a:t>1. Problema y objetivo</a:t>
            </a:r>
            <a:endParaRPr lang="en-US" sz="2800" dirty="0"/>
          </a:p>
        </p:txBody>
      </p:sp>
      <p:sp>
        <p:nvSpPr>
          <p:cNvPr id="7" name="Text 4"/>
          <p:cNvSpPr/>
          <p:nvPr/>
        </p:nvSpPr>
        <p:spPr>
          <a:xfrm>
            <a:off x="11475720" y="6327648"/>
            <a:ext cx="365760" cy="228600"/>
          </a:xfrm>
          <a:prstGeom prst="rect">
            <a:avLst/>
          </a:prstGeom>
          <a:noFill/>
          <a:ln/>
        </p:spPr>
        <p:txBody>
          <a:bodyPr wrap="square" lIns="0" tIns="0" rIns="0" bIns="0" rtlCol="0" anchor="ctr"/>
          <a:lstStyle/>
          <a:p>
            <a:pPr marL="0" indent="0" algn="r">
              <a:buNone/>
            </a:pPr>
            <a:r>
              <a:rPr lang="en-US" sz="2000" dirty="0">
                <a:solidFill>
                  <a:srgbClr val="5A6470"/>
                </a:solidFill>
              </a:rPr>
              <a:t>2</a:t>
            </a:r>
            <a:endParaRPr lang="en-US" sz="2000" dirty="0"/>
          </a:p>
        </p:txBody>
      </p:sp>
      <p:sp>
        <p:nvSpPr>
          <p:cNvPr id="8" name="Text 5"/>
          <p:cNvSpPr/>
          <p:nvPr/>
        </p:nvSpPr>
        <p:spPr>
          <a:xfrm>
            <a:off x="685800" y="1234440"/>
            <a:ext cx="6126480" cy="1325880"/>
          </a:xfrm>
          <a:prstGeom prst="rect">
            <a:avLst/>
          </a:prstGeom>
          <a:noFill/>
          <a:ln/>
        </p:spPr>
        <p:txBody>
          <a:bodyPr wrap="square" lIns="254" tIns="254" rIns="254" bIns="254" rtlCol="0" anchor="ctr">
            <a:normAutofit/>
          </a:bodyPr>
          <a:lstStyle/>
          <a:p>
            <a:pPr marL="0" indent="0">
              <a:buNone/>
            </a:pPr>
            <a:r>
              <a:rPr lang="en-US" sz="2200" dirty="0">
                <a:solidFill>
                  <a:srgbClr val="1F1F1F"/>
                </a:solidFill>
                <a:latin typeface="Calibri" pitchFamily="34" charset="0"/>
                <a:ea typeface="Calibri" pitchFamily="34" charset="-122"/>
                <a:cs typeface="Calibri" pitchFamily="34" charset="-120"/>
              </a:rPr>
              <a:t>El proyecto busca estimar si lloverá al día siguiente en distintas ubicaciones de Australia. La minería de datos ayuda a pasar desde registros históricos hacia señales de riesgo útiles para tomar decisiones.</a:t>
            </a:r>
            <a:endParaRPr lang="en-US" sz="2200" dirty="0"/>
          </a:p>
        </p:txBody>
      </p:sp>
      <p:sp>
        <p:nvSpPr>
          <p:cNvPr id="9" name="Text 6"/>
          <p:cNvSpPr/>
          <p:nvPr/>
        </p:nvSpPr>
        <p:spPr>
          <a:xfrm>
            <a:off x="685800" y="2788920"/>
            <a:ext cx="5852160" cy="1920240"/>
          </a:xfrm>
          <a:prstGeom prst="rect">
            <a:avLst/>
          </a:prstGeom>
          <a:noFill/>
          <a:ln/>
        </p:spPr>
        <p:txBody>
          <a:bodyPr wrap="square" lIns="254" tIns="254" rIns="254" bIns="254" rtlCol="0" anchor="ctr">
            <a:normAutofit/>
          </a:bodyPr>
          <a:lstStyle/>
          <a:p>
            <a:r>
              <a:rPr lang="en-US" sz="2200" dirty="0">
                <a:solidFill>
                  <a:srgbClr val="1F1F1F"/>
                </a:solidFill>
                <a:latin typeface="Calibri" pitchFamily="34" charset="0"/>
                <a:ea typeface="Calibri" pitchFamily="34" charset="-122"/>
                <a:cs typeface="Calibri" pitchFamily="34" charset="-120"/>
              </a:rPr>
              <a:t>Aporte organizacional:</a:t>
            </a:r>
            <a:endParaRPr lang="en-US" sz="2200" dirty="0"/>
          </a:p>
          <a:p>
            <a:r>
              <a:rPr lang="en-US" sz="2200" dirty="0">
                <a:solidFill>
                  <a:srgbClr val="1F1F1F"/>
                </a:solidFill>
                <a:latin typeface="Calibri" pitchFamily="34" charset="0"/>
                <a:ea typeface="Calibri" pitchFamily="34" charset="-122"/>
                <a:cs typeface="Calibri" pitchFamily="34" charset="-120"/>
              </a:rPr>
              <a:t>• Planificar rutas y turnos.</a:t>
            </a:r>
            <a:endParaRPr lang="en-US" sz="2200" dirty="0"/>
          </a:p>
          <a:p>
            <a:r>
              <a:rPr lang="en-US" sz="2200" dirty="0">
                <a:solidFill>
                  <a:srgbClr val="1F1F1F"/>
                </a:solidFill>
                <a:latin typeface="Calibri" pitchFamily="34" charset="0"/>
                <a:ea typeface="Calibri" pitchFamily="34" charset="-122"/>
                <a:cs typeface="Calibri" pitchFamily="34" charset="-120"/>
              </a:rPr>
              <a:t>• Preparar medidas de seguridad.</a:t>
            </a:r>
            <a:endParaRPr lang="en-US" sz="2200" dirty="0"/>
          </a:p>
          <a:p>
            <a:r>
              <a:rPr lang="en-US" sz="2200" dirty="0">
                <a:solidFill>
                  <a:srgbClr val="1F1F1F"/>
                </a:solidFill>
                <a:latin typeface="Calibri" pitchFamily="34" charset="0"/>
                <a:ea typeface="Calibri" pitchFamily="34" charset="-122"/>
                <a:cs typeface="Calibri" pitchFamily="34" charset="-120"/>
              </a:rPr>
              <a:t>• Priorizar mantención y recursos.</a:t>
            </a:r>
            <a:endParaRPr lang="en-US" sz="2200" dirty="0"/>
          </a:p>
          <a:p>
            <a:r>
              <a:rPr lang="en-US" sz="2200" dirty="0">
                <a:solidFill>
                  <a:srgbClr val="1F1F1F"/>
                </a:solidFill>
                <a:latin typeface="Calibri" pitchFamily="34" charset="0"/>
                <a:ea typeface="Calibri" pitchFamily="34" charset="-122"/>
                <a:cs typeface="Calibri" pitchFamily="34" charset="-120"/>
              </a:rPr>
              <a:t>• Anticipar alertas preventivas.</a:t>
            </a:r>
            <a:endParaRPr lang="en-US" sz="2200" dirty="0"/>
          </a:p>
        </p:txBody>
      </p:sp>
      <p:sp>
        <p:nvSpPr>
          <p:cNvPr id="10" name="Shape 7"/>
          <p:cNvSpPr/>
          <p:nvPr/>
        </p:nvSpPr>
        <p:spPr>
          <a:xfrm>
            <a:off x="7315200" y="1417320"/>
            <a:ext cx="3749040" cy="960120"/>
          </a:xfrm>
          <a:prstGeom prst="roundRect">
            <a:avLst>
              <a:gd name="adj" fmla="val 7619"/>
            </a:avLst>
          </a:prstGeom>
          <a:solidFill>
            <a:srgbClr val="0B2D4A"/>
          </a:solidFill>
          <a:ln w="12700">
            <a:solidFill>
              <a:srgbClr val="FFFFFF">
                <a:alpha val="0"/>
              </a:srgbClr>
            </a:solidFill>
            <a:prstDash val="solid"/>
          </a:ln>
        </p:spPr>
        <p:txBody>
          <a:bodyPr/>
          <a:lstStyle/>
          <a:p>
            <a:endParaRPr lang="es-CL"/>
          </a:p>
        </p:txBody>
      </p:sp>
      <p:sp>
        <p:nvSpPr>
          <p:cNvPr id="11" name="Text 8"/>
          <p:cNvSpPr/>
          <p:nvPr/>
        </p:nvSpPr>
        <p:spPr>
          <a:xfrm>
            <a:off x="7543800" y="1545336"/>
            <a:ext cx="1600200" cy="502920"/>
          </a:xfrm>
          <a:prstGeom prst="rect">
            <a:avLst/>
          </a:prstGeom>
          <a:noFill/>
          <a:ln/>
        </p:spPr>
        <p:txBody>
          <a:bodyPr wrap="square" lIns="0" tIns="0" rIns="0" bIns="0" rtlCol="0" anchor="ctr"/>
          <a:lstStyle/>
          <a:p>
            <a:pPr marL="0" indent="0">
              <a:buNone/>
            </a:pPr>
            <a:r>
              <a:rPr lang="en-US" sz="3200" b="1" dirty="0">
                <a:solidFill>
                  <a:srgbClr val="FFFFFF"/>
                </a:solidFill>
              </a:rPr>
              <a:t>142.193</a:t>
            </a:r>
            <a:endParaRPr lang="en-US" sz="3200" dirty="0"/>
          </a:p>
        </p:txBody>
      </p:sp>
      <p:sp>
        <p:nvSpPr>
          <p:cNvPr id="12" name="Text 9"/>
          <p:cNvSpPr/>
          <p:nvPr/>
        </p:nvSpPr>
        <p:spPr>
          <a:xfrm>
            <a:off x="9189720" y="1673352"/>
            <a:ext cx="1645920" cy="329184"/>
          </a:xfrm>
          <a:prstGeom prst="rect">
            <a:avLst/>
          </a:prstGeom>
          <a:noFill/>
          <a:ln/>
        </p:spPr>
        <p:txBody>
          <a:bodyPr wrap="square" lIns="0" tIns="0" rIns="0" bIns="0" rtlCol="0" anchor="ctr"/>
          <a:lstStyle/>
          <a:p>
            <a:pPr marL="0" indent="0">
              <a:buNone/>
            </a:pPr>
            <a:r>
              <a:rPr lang="en-US" sz="2000" b="1" dirty="0">
                <a:solidFill>
                  <a:srgbClr val="FFFFFF"/>
                </a:solidFill>
              </a:rPr>
              <a:t>registros</a:t>
            </a:r>
            <a:endParaRPr lang="en-US" sz="2000" dirty="0"/>
          </a:p>
        </p:txBody>
      </p:sp>
      <p:sp>
        <p:nvSpPr>
          <p:cNvPr id="13" name="Shape 10"/>
          <p:cNvSpPr/>
          <p:nvPr/>
        </p:nvSpPr>
        <p:spPr>
          <a:xfrm>
            <a:off x="7315200" y="2834640"/>
            <a:ext cx="3749040" cy="960120"/>
          </a:xfrm>
          <a:prstGeom prst="roundRect">
            <a:avLst>
              <a:gd name="adj" fmla="val 7619"/>
            </a:avLst>
          </a:prstGeom>
          <a:solidFill>
            <a:srgbClr val="1F5A85"/>
          </a:solidFill>
          <a:ln w="12700">
            <a:solidFill>
              <a:srgbClr val="FFFFFF">
                <a:alpha val="0"/>
              </a:srgbClr>
            </a:solidFill>
            <a:prstDash val="solid"/>
          </a:ln>
        </p:spPr>
        <p:txBody>
          <a:bodyPr/>
          <a:lstStyle/>
          <a:p>
            <a:endParaRPr lang="es-CL"/>
          </a:p>
        </p:txBody>
      </p:sp>
      <p:sp>
        <p:nvSpPr>
          <p:cNvPr id="14" name="Text 11"/>
          <p:cNvSpPr/>
          <p:nvPr/>
        </p:nvSpPr>
        <p:spPr>
          <a:xfrm>
            <a:off x="7543800" y="2962656"/>
            <a:ext cx="1600200" cy="502920"/>
          </a:xfrm>
          <a:prstGeom prst="rect">
            <a:avLst/>
          </a:prstGeom>
          <a:noFill/>
          <a:ln/>
        </p:spPr>
        <p:txBody>
          <a:bodyPr wrap="square" lIns="0" tIns="0" rIns="0" bIns="0" rtlCol="0" anchor="ctr"/>
          <a:lstStyle/>
          <a:p>
            <a:pPr marL="0" indent="0">
              <a:buNone/>
            </a:pPr>
            <a:r>
              <a:rPr lang="en-US" sz="3200" b="1" dirty="0">
                <a:solidFill>
                  <a:srgbClr val="FFFFFF"/>
                </a:solidFill>
              </a:rPr>
              <a:t>24</a:t>
            </a:r>
            <a:endParaRPr lang="en-US" sz="3200" dirty="0"/>
          </a:p>
        </p:txBody>
      </p:sp>
      <p:sp>
        <p:nvSpPr>
          <p:cNvPr id="15" name="Text 12"/>
          <p:cNvSpPr/>
          <p:nvPr/>
        </p:nvSpPr>
        <p:spPr>
          <a:xfrm>
            <a:off x="9189720" y="3090672"/>
            <a:ext cx="1645920" cy="329184"/>
          </a:xfrm>
          <a:prstGeom prst="rect">
            <a:avLst/>
          </a:prstGeom>
          <a:noFill/>
          <a:ln/>
        </p:spPr>
        <p:txBody>
          <a:bodyPr wrap="square" lIns="0" tIns="0" rIns="0" bIns="0" rtlCol="0" anchor="ctr"/>
          <a:lstStyle/>
          <a:p>
            <a:pPr marL="0" indent="0">
              <a:buNone/>
            </a:pPr>
            <a:r>
              <a:rPr lang="en-US" sz="2000" b="1" dirty="0">
                <a:solidFill>
                  <a:srgbClr val="FFFFFF"/>
                </a:solidFill>
              </a:rPr>
              <a:t>columnas originales</a:t>
            </a:r>
            <a:endParaRPr lang="en-US" sz="2000" dirty="0"/>
          </a:p>
        </p:txBody>
      </p:sp>
      <p:sp>
        <p:nvSpPr>
          <p:cNvPr id="16" name="Shape 13"/>
          <p:cNvSpPr/>
          <p:nvPr/>
        </p:nvSpPr>
        <p:spPr>
          <a:xfrm>
            <a:off x="7315200" y="4251960"/>
            <a:ext cx="3749040" cy="960120"/>
          </a:xfrm>
          <a:prstGeom prst="roundRect">
            <a:avLst>
              <a:gd name="adj" fmla="val 7619"/>
            </a:avLst>
          </a:prstGeom>
          <a:solidFill>
            <a:srgbClr val="F6B700"/>
          </a:solidFill>
          <a:ln w="12700">
            <a:solidFill>
              <a:srgbClr val="FFFFFF">
                <a:alpha val="0"/>
              </a:srgbClr>
            </a:solidFill>
            <a:prstDash val="solid"/>
          </a:ln>
        </p:spPr>
        <p:txBody>
          <a:bodyPr/>
          <a:lstStyle/>
          <a:p>
            <a:endParaRPr lang="es-CL"/>
          </a:p>
        </p:txBody>
      </p:sp>
      <p:sp>
        <p:nvSpPr>
          <p:cNvPr id="17" name="Text 14"/>
          <p:cNvSpPr/>
          <p:nvPr/>
        </p:nvSpPr>
        <p:spPr>
          <a:xfrm>
            <a:off x="7543800" y="4379976"/>
            <a:ext cx="1600200" cy="502920"/>
          </a:xfrm>
          <a:prstGeom prst="rect">
            <a:avLst/>
          </a:prstGeom>
          <a:noFill/>
          <a:ln/>
        </p:spPr>
        <p:txBody>
          <a:bodyPr wrap="square" lIns="0" tIns="0" rIns="0" bIns="0" rtlCol="0" anchor="ctr"/>
          <a:lstStyle/>
          <a:p>
            <a:pPr marL="0" indent="0">
              <a:buNone/>
            </a:pPr>
            <a:r>
              <a:rPr lang="en-US" sz="3200" b="1" dirty="0">
                <a:solidFill>
                  <a:srgbClr val="0B2D4A"/>
                </a:solidFill>
              </a:rPr>
              <a:t>22,42%</a:t>
            </a:r>
            <a:endParaRPr lang="en-US" sz="3200" dirty="0"/>
          </a:p>
        </p:txBody>
      </p:sp>
      <p:sp>
        <p:nvSpPr>
          <p:cNvPr id="18" name="Text 15"/>
          <p:cNvSpPr/>
          <p:nvPr/>
        </p:nvSpPr>
        <p:spPr>
          <a:xfrm>
            <a:off x="9189720" y="4507992"/>
            <a:ext cx="1645920" cy="329184"/>
          </a:xfrm>
          <a:prstGeom prst="rect">
            <a:avLst/>
          </a:prstGeom>
          <a:noFill/>
          <a:ln/>
        </p:spPr>
        <p:txBody>
          <a:bodyPr wrap="square" lIns="0" tIns="0" rIns="0" bIns="0" rtlCol="0" anchor="ctr"/>
          <a:lstStyle/>
          <a:p>
            <a:pPr marL="0" indent="0">
              <a:buNone/>
            </a:pPr>
            <a:r>
              <a:rPr lang="en-US" sz="2000" b="1" dirty="0">
                <a:solidFill>
                  <a:srgbClr val="0B2D4A"/>
                </a:solidFill>
              </a:rPr>
              <a:t>días con lluvia mañana</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s-CL"/>
          </a:p>
        </p:txBody>
      </p:sp>
      <p:sp>
        <p:nvSpPr>
          <p:cNvPr id="3" name="Shape 1"/>
          <p:cNvSpPr/>
          <p:nvPr/>
        </p:nvSpPr>
        <p:spPr>
          <a:xfrm>
            <a:off x="0" y="0"/>
            <a:ext cx="12191695" cy="164592"/>
          </a:xfrm>
          <a:prstGeom prst="rect">
            <a:avLst/>
          </a:prstGeom>
          <a:solidFill>
            <a:srgbClr val="F6B700"/>
          </a:solidFill>
          <a:ln w="12700">
            <a:solidFill>
              <a:srgbClr val="F6B700"/>
            </a:solidFill>
            <a:prstDash val="solid"/>
          </a:ln>
        </p:spPr>
        <p:txBody>
          <a:bodyPr/>
          <a:lstStyle/>
          <a:p>
            <a:endParaRPr lang="es-CL"/>
          </a:p>
        </p:txBody>
      </p:sp>
      <p:sp>
        <p:nvSpPr>
          <p:cNvPr id="4" name="Shape 2"/>
          <p:cNvSpPr/>
          <p:nvPr/>
        </p:nvSpPr>
        <p:spPr>
          <a:xfrm>
            <a:off x="0" y="164592"/>
            <a:ext cx="12191695" cy="54864"/>
          </a:xfrm>
          <a:prstGeom prst="rect">
            <a:avLst/>
          </a:prstGeom>
          <a:solidFill>
            <a:srgbClr val="0B2D4A"/>
          </a:solidFill>
          <a:ln w="12700">
            <a:solidFill>
              <a:srgbClr val="0B2D4A"/>
            </a:solidFill>
            <a:prstDash val="solid"/>
          </a:ln>
        </p:spPr>
        <p:txBody>
          <a:bodyPr/>
          <a:lstStyle/>
          <a:p>
            <a:endParaRPr lang="es-CL"/>
          </a:p>
        </p:txBody>
      </p:sp>
      <p:pic>
        <p:nvPicPr>
          <p:cNvPr id="5" name="Image 0" descr="/mnt/data/work_docx/word/media/image1.png"/>
          <p:cNvPicPr>
            <a:picLocks noChangeAspect="1"/>
          </p:cNvPicPr>
          <p:nvPr/>
        </p:nvPicPr>
        <p:blipFill>
          <a:blip r:embed="rId3"/>
          <a:stretch>
            <a:fillRect/>
          </a:stretch>
        </p:blipFill>
        <p:spPr>
          <a:xfrm>
            <a:off x="10149840" y="402336"/>
            <a:ext cx="1325880" cy="384048"/>
          </a:xfrm>
          <a:prstGeom prst="rect">
            <a:avLst/>
          </a:prstGeom>
        </p:spPr>
      </p:pic>
      <p:sp>
        <p:nvSpPr>
          <p:cNvPr id="6" name="Text 3"/>
          <p:cNvSpPr/>
          <p:nvPr/>
        </p:nvSpPr>
        <p:spPr>
          <a:xfrm>
            <a:off x="594360" y="502920"/>
            <a:ext cx="8138160" cy="502920"/>
          </a:xfrm>
          <a:prstGeom prst="rect">
            <a:avLst/>
          </a:prstGeom>
          <a:noFill/>
          <a:ln/>
        </p:spPr>
        <p:txBody>
          <a:bodyPr wrap="square" lIns="254" tIns="254" rIns="254" bIns="254" rtlCol="0" anchor="ctr">
            <a:normAutofit/>
          </a:bodyPr>
          <a:lstStyle/>
          <a:p>
            <a:pPr marL="0" indent="0">
              <a:buNone/>
            </a:pPr>
            <a:r>
              <a:rPr lang="en-US" sz="2800" b="1" dirty="0">
                <a:solidFill>
                  <a:srgbClr val="0B2D4A"/>
                </a:solidFill>
                <a:latin typeface="Calibri" pitchFamily="34" charset="0"/>
                <a:ea typeface="Calibri" pitchFamily="34" charset="-122"/>
                <a:cs typeface="Calibri" pitchFamily="34" charset="-120"/>
              </a:rPr>
              <a:t>2. Metodología CRISP-DM</a:t>
            </a:r>
            <a:endParaRPr lang="en-US" sz="2800" dirty="0"/>
          </a:p>
        </p:txBody>
      </p:sp>
      <p:sp>
        <p:nvSpPr>
          <p:cNvPr id="7" name="Text 4"/>
          <p:cNvSpPr/>
          <p:nvPr/>
        </p:nvSpPr>
        <p:spPr>
          <a:xfrm>
            <a:off x="11475720" y="6327648"/>
            <a:ext cx="365760" cy="228600"/>
          </a:xfrm>
          <a:prstGeom prst="rect">
            <a:avLst/>
          </a:prstGeom>
          <a:noFill/>
          <a:ln/>
        </p:spPr>
        <p:txBody>
          <a:bodyPr wrap="square" lIns="0" tIns="0" rIns="0" bIns="0" rtlCol="0" anchor="ctr"/>
          <a:lstStyle/>
          <a:p>
            <a:pPr marL="0" indent="0" algn="r">
              <a:buNone/>
            </a:pPr>
            <a:r>
              <a:rPr lang="en-US" sz="2000" dirty="0">
                <a:solidFill>
                  <a:srgbClr val="5A6470"/>
                </a:solidFill>
              </a:rPr>
              <a:t>3</a:t>
            </a:r>
            <a:endParaRPr lang="en-US" sz="2000" dirty="0"/>
          </a:p>
        </p:txBody>
      </p:sp>
      <p:sp>
        <p:nvSpPr>
          <p:cNvPr id="8" name="Text 5"/>
          <p:cNvSpPr/>
          <p:nvPr/>
        </p:nvSpPr>
        <p:spPr>
          <a:xfrm>
            <a:off x="685800" y="1143000"/>
            <a:ext cx="7132320" cy="777240"/>
          </a:xfrm>
          <a:prstGeom prst="rect">
            <a:avLst/>
          </a:prstGeom>
          <a:noFill/>
          <a:ln/>
        </p:spPr>
        <p:txBody>
          <a:bodyPr wrap="square" lIns="254" tIns="254" rIns="254" bIns="254" rtlCol="0" anchor="ctr">
            <a:normAutofit/>
          </a:bodyPr>
          <a:lstStyle/>
          <a:p>
            <a:pPr marL="0" indent="0">
              <a:buNone/>
            </a:pPr>
            <a:r>
              <a:rPr lang="en-US" sz="2200" dirty="0">
                <a:solidFill>
                  <a:srgbClr val="1F1F1F"/>
                </a:solidFill>
                <a:latin typeface="Calibri" pitchFamily="34" charset="0"/>
                <a:ea typeface="Calibri" pitchFamily="34" charset="-122"/>
                <a:cs typeface="Calibri" pitchFamily="34" charset="-120"/>
              </a:rPr>
              <a:t>Se utilizó CRISP-DM porque entrega una ruta clara desde el problema hasta la evaluación y la propuesta de despliegue.</a:t>
            </a:r>
            <a:endParaRPr lang="en-US" sz="2200" dirty="0"/>
          </a:p>
        </p:txBody>
      </p:sp>
      <p:sp>
        <p:nvSpPr>
          <p:cNvPr id="9" name="Shape 6"/>
          <p:cNvSpPr/>
          <p:nvPr/>
        </p:nvSpPr>
        <p:spPr>
          <a:xfrm>
            <a:off x="777240" y="1965960"/>
            <a:ext cx="3154680" cy="1024128"/>
          </a:xfrm>
          <a:prstGeom prst="roundRect">
            <a:avLst>
              <a:gd name="adj" fmla="val 5357"/>
            </a:avLst>
          </a:prstGeom>
          <a:solidFill>
            <a:srgbClr val="0B2D4A"/>
          </a:solidFill>
          <a:ln w="12700">
            <a:solidFill>
              <a:srgbClr val="FFFFFF">
                <a:alpha val="0"/>
              </a:srgbClr>
            </a:solidFill>
            <a:prstDash val="solid"/>
          </a:ln>
        </p:spPr>
        <p:txBody>
          <a:bodyPr/>
          <a:lstStyle/>
          <a:p>
            <a:endParaRPr lang="es-CL"/>
          </a:p>
        </p:txBody>
      </p:sp>
      <p:sp>
        <p:nvSpPr>
          <p:cNvPr id="10" name="Text 7"/>
          <p:cNvSpPr/>
          <p:nvPr/>
        </p:nvSpPr>
        <p:spPr>
          <a:xfrm>
            <a:off x="914400" y="2130552"/>
            <a:ext cx="457200" cy="411480"/>
          </a:xfrm>
          <a:prstGeom prst="rect">
            <a:avLst/>
          </a:prstGeom>
          <a:noFill/>
          <a:ln/>
        </p:spPr>
        <p:txBody>
          <a:bodyPr wrap="square" lIns="0" tIns="0" rIns="0" bIns="0" rtlCol="0" anchor="ctr"/>
          <a:lstStyle/>
          <a:p>
            <a:pPr marL="0" indent="0">
              <a:buNone/>
            </a:pPr>
            <a:r>
              <a:rPr lang="en-US" sz="2400" b="1" dirty="0">
                <a:solidFill>
                  <a:srgbClr val="F6B700"/>
                </a:solidFill>
              </a:rPr>
              <a:t>1</a:t>
            </a:r>
            <a:endParaRPr lang="en-US" sz="2400" dirty="0"/>
          </a:p>
        </p:txBody>
      </p:sp>
      <p:sp>
        <p:nvSpPr>
          <p:cNvPr id="11" name="Text 8"/>
          <p:cNvSpPr/>
          <p:nvPr/>
        </p:nvSpPr>
        <p:spPr>
          <a:xfrm>
            <a:off x="1463040" y="2167128"/>
            <a:ext cx="2194560" cy="502920"/>
          </a:xfrm>
          <a:prstGeom prst="rect">
            <a:avLst/>
          </a:prstGeom>
          <a:noFill/>
          <a:ln/>
        </p:spPr>
        <p:txBody>
          <a:bodyPr wrap="square" lIns="254" tIns="254" rIns="254" bIns="254" rtlCol="0" anchor="ctr"/>
          <a:lstStyle/>
          <a:p>
            <a:pPr marL="0" indent="0">
              <a:buNone/>
            </a:pPr>
            <a:r>
              <a:rPr lang="en-US" sz="2100" b="1" dirty="0">
                <a:solidFill>
                  <a:srgbClr val="FFFFFF"/>
                </a:solidFill>
              </a:rPr>
              <a:t>Comprensión</a:t>
            </a:r>
            <a:endParaRPr lang="en-US" sz="2100" dirty="0"/>
          </a:p>
          <a:p>
            <a:pPr marL="0" indent="0">
              <a:buNone/>
            </a:pPr>
            <a:r>
              <a:rPr lang="en-US" sz="2100" b="1" dirty="0">
                <a:solidFill>
                  <a:srgbClr val="FFFFFF"/>
                </a:solidFill>
              </a:rPr>
              <a:t>del negocio</a:t>
            </a:r>
            <a:endParaRPr lang="en-US" sz="2100" dirty="0"/>
          </a:p>
        </p:txBody>
      </p:sp>
      <p:sp>
        <p:nvSpPr>
          <p:cNvPr id="12" name="Shape 9"/>
          <p:cNvSpPr/>
          <p:nvPr/>
        </p:nvSpPr>
        <p:spPr>
          <a:xfrm>
            <a:off x="4434840" y="1965960"/>
            <a:ext cx="3154680" cy="1024128"/>
          </a:xfrm>
          <a:prstGeom prst="roundRect">
            <a:avLst>
              <a:gd name="adj" fmla="val 5357"/>
            </a:avLst>
          </a:prstGeom>
          <a:solidFill>
            <a:srgbClr val="1F5A85"/>
          </a:solidFill>
          <a:ln w="12700">
            <a:solidFill>
              <a:srgbClr val="FFFFFF">
                <a:alpha val="0"/>
              </a:srgbClr>
            </a:solidFill>
            <a:prstDash val="solid"/>
          </a:ln>
        </p:spPr>
        <p:txBody>
          <a:bodyPr/>
          <a:lstStyle/>
          <a:p>
            <a:endParaRPr lang="es-CL"/>
          </a:p>
        </p:txBody>
      </p:sp>
      <p:sp>
        <p:nvSpPr>
          <p:cNvPr id="13" name="Text 10"/>
          <p:cNvSpPr/>
          <p:nvPr/>
        </p:nvSpPr>
        <p:spPr>
          <a:xfrm>
            <a:off x="4572000" y="2130552"/>
            <a:ext cx="457200" cy="411480"/>
          </a:xfrm>
          <a:prstGeom prst="rect">
            <a:avLst/>
          </a:prstGeom>
          <a:noFill/>
          <a:ln/>
        </p:spPr>
        <p:txBody>
          <a:bodyPr wrap="square" lIns="0" tIns="0" rIns="0" bIns="0" rtlCol="0" anchor="ctr"/>
          <a:lstStyle/>
          <a:p>
            <a:pPr marL="0" indent="0">
              <a:buNone/>
            </a:pPr>
            <a:r>
              <a:rPr lang="en-US" sz="2400" b="1" dirty="0">
                <a:solidFill>
                  <a:srgbClr val="F6B700"/>
                </a:solidFill>
              </a:rPr>
              <a:t>2</a:t>
            </a:r>
            <a:endParaRPr lang="en-US" sz="2400" dirty="0"/>
          </a:p>
        </p:txBody>
      </p:sp>
      <p:sp>
        <p:nvSpPr>
          <p:cNvPr id="14" name="Text 11"/>
          <p:cNvSpPr/>
          <p:nvPr/>
        </p:nvSpPr>
        <p:spPr>
          <a:xfrm>
            <a:off x="5120640" y="2167128"/>
            <a:ext cx="2194560" cy="502920"/>
          </a:xfrm>
          <a:prstGeom prst="rect">
            <a:avLst/>
          </a:prstGeom>
          <a:noFill/>
          <a:ln/>
        </p:spPr>
        <p:txBody>
          <a:bodyPr wrap="square" lIns="254" tIns="254" rIns="254" bIns="254" rtlCol="0" anchor="ctr"/>
          <a:lstStyle/>
          <a:p>
            <a:pPr marL="0" indent="0">
              <a:buNone/>
            </a:pPr>
            <a:r>
              <a:rPr lang="en-US" sz="2100" b="1" dirty="0">
                <a:solidFill>
                  <a:srgbClr val="FFFFFF"/>
                </a:solidFill>
              </a:rPr>
              <a:t>Comprensión</a:t>
            </a:r>
            <a:endParaRPr lang="en-US" sz="2100" dirty="0"/>
          </a:p>
          <a:p>
            <a:pPr marL="0" indent="0">
              <a:buNone/>
            </a:pPr>
            <a:r>
              <a:rPr lang="en-US" sz="2100" b="1" dirty="0">
                <a:solidFill>
                  <a:srgbClr val="FFFFFF"/>
                </a:solidFill>
              </a:rPr>
              <a:t>de datos</a:t>
            </a:r>
            <a:endParaRPr lang="en-US" sz="2100" dirty="0"/>
          </a:p>
        </p:txBody>
      </p:sp>
      <p:sp>
        <p:nvSpPr>
          <p:cNvPr id="15" name="Shape 12"/>
          <p:cNvSpPr/>
          <p:nvPr/>
        </p:nvSpPr>
        <p:spPr>
          <a:xfrm>
            <a:off x="8092440" y="1965960"/>
            <a:ext cx="3154680" cy="1024128"/>
          </a:xfrm>
          <a:prstGeom prst="roundRect">
            <a:avLst>
              <a:gd name="adj" fmla="val 5357"/>
            </a:avLst>
          </a:prstGeom>
          <a:solidFill>
            <a:srgbClr val="0B2D4A"/>
          </a:solidFill>
          <a:ln w="12700">
            <a:solidFill>
              <a:srgbClr val="FFFFFF">
                <a:alpha val="0"/>
              </a:srgbClr>
            </a:solidFill>
            <a:prstDash val="solid"/>
          </a:ln>
        </p:spPr>
        <p:txBody>
          <a:bodyPr/>
          <a:lstStyle/>
          <a:p>
            <a:endParaRPr lang="es-CL"/>
          </a:p>
        </p:txBody>
      </p:sp>
      <p:sp>
        <p:nvSpPr>
          <p:cNvPr id="16" name="Text 13"/>
          <p:cNvSpPr/>
          <p:nvPr/>
        </p:nvSpPr>
        <p:spPr>
          <a:xfrm>
            <a:off x="8229600" y="2130552"/>
            <a:ext cx="457200" cy="411480"/>
          </a:xfrm>
          <a:prstGeom prst="rect">
            <a:avLst/>
          </a:prstGeom>
          <a:noFill/>
          <a:ln/>
        </p:spPr>
        <p:txBody>
          <a:bodyPr wrap="square" lIns="0" tIns="0" rIns="0" bIns="0" rtlCol="0" anchor="ctr"/>
          <a:lstStyle/>
          <a:p>
            <a:pPr marL="0" indent="0">
              <a:buNone/>
            </a:pPr>
            <a:r>
              <a:rPr lang="en-US" sz="2400" b="1" dirty="0">
                <a:solidFill>
                  <a:srgbClr val="F6B700"/>
                </a:solidFill>
              </a:rPr>
              <a:t>3</a:t>
            </a:r>
            <a:endParaRPr lang="en-US" sz="2400" dirty="0"/>
          </a:p>
        </p:txBody>
      </p:sp>
      <p:sp>
        <p:nvSpPr>
          <p:cNvPr id="17" name="Text 14"/>
          <p:cNvSpPr/>
          <p:nvPr/>
        </p:nvSpPr>
        <p:spPr>
          <a:xfrm>
            <a:off x="8778240" y="2167128"/>
            <a:ext cx="2194560" cy="502920"/>
          </a:xfrm>
          <a:prstGeom prst="rect">
            <a:avLst/>
          </a:prstGeom>
          <a:noFill/>
          <a:ln/>
        </p:spPr>
        <p:txBody>
          <a:bodyPr wrap="square" lIns="254" tIns="254" rIns="254" bIns="254" rtlCol="0" anchor="ctr"/>
          <a:lstStyle/>
          <a:p>
            <a:pPr marL="0" indent="0">
              <a:buNone/>
            </a:pPr>
            <a:r>
              <a:rPr lang="en-US" sz="2100" b="1" dirty="0">
                <a:solidFill>
                  <a:srgbClr val="FFFFFF"/>
                </a:solidFill>
              </a:rPr>
              <a:t>Preparación</a:t>
            </a:r>
            <a:endParaRPr lang="en-US" sz="2100" dirty="0"/>
          </a:p>
        </p:txBody>
      </p:sp>
      <p:sp>
        <p:nvSpPr>
          <p:cNvPr id="18" name="Shape 15"/>
          <p:cNvSpPr/>
          <p:nvPr/>
        </p:nvSpPr>
        <p:spPr>
          <a:xfrm>
            <a:off x="777240" y="3474720"/>
            <a:ext cx="3154680" cy="1024128"/>
          </a:xfrm>
          <a:prstGeom prst="roundRect">
            <a:avLst>
              <a:gd name="adj" fmla="val 5357"/>
            </a:avLst>
          </a:prstGeom>
          <a:solidFill>
            <a:srgbClr val="1F5A85"/>
          </a:solidFill>
          <a:ln w="12700">
            <a:solidFill>
              <a:srgbClr val="FFFFFF">
                <a:alpha val="0"/>
              </a:srgbClr>
            </a:solidFill>
            <a:prstDash val="solid"/>
          </a:ln>
        </p:spPr>
        <p:txBody>
          <a:bodyPr/>
          <a:lstStyle/>
          <a:p>
            <a:endParaRPr lang="es-CL"/>
          </a:p>
        </p:txBody>
      </p:sp>
      <p:sp>
        <p:nvSpPr>
          <p:cNvPr id="19" name="Text 16"/>
          <p:cNvSpPr/>
          <p:nvPr/>
        </p:nvSpPr>
        <p:spPr>
          <a:xfrm>
            <a:off x="914400" y="3639312"/>
            <a:ext cx="457200" cy="411480"/>
          </a:xfrm>
          <a:prstGeom prst="rect">
            <a:avLst/>
          </a:prstGeom>
          <a:noFill/>
          <a:ln/>
        </p:spPr>
        <p:txBody>
          <a:bodyPr wrap="square" lIns="0" tIns="0" rIns="0" bIns="0" rtlCol="0" anchor="ctr"/>
          <a:lstStyle/>
          <a:p>
            <a:pPr marL="0" indent="0">
              <a:buNone/>
            </a:pPr>
            <a:r>
              <a:rPr lang="en-US" sz="2400" b="1" dirty="0">
                <a:solidFill>
                  <a:srgbClr val="F6B700"/>
                </a:solidFill>
              </a:rPr>
              <a:t>4</a:t>
            </a:r>
            <a:endParaRPr lang="en-US" sz="2400" dirty="0"/>
          </a:p>
        </p:txBody>
      </p:sp>
      <p:sp>
        <p:nvSpPr>
          <p:cNvPr id="20" name="Text 17"/>
          <p:cNvSpPr/>
          <p:nvPr/>
        </p:nvSpPr>
        <p:spPr>
          <a:xfrm>
            <a:off x="1463040" y="3675888"/>
            <a:ext cx="2194560" cy="502920"/>
          </a:xfrm>
          <a:prstGeom prst="rect">
            <a:avLst/>
          </a:prstGeom>
          <a:noFill/>
          <a:ln/>
        </p:spPr>
        <p:txBody>
          <a:bodyPr wrap="square" lIns="254" tIns="254" rIns="254" bIns="254" rtlCol="0" anchor="ctr"/>
          <a:lstStyle/>
          <a:p>
            <a:pPr marL="0" indent="0">
              <a:buNone/>
            </a:pPr>
            <a:r>
              <a:rPr lang="en-US" sz="2100" b="1" dirty="0">
                <a:solidFill>
                  <a:srgbClr val="FFFFFF"/>
                </a:solidFill>
              </a:rPr>
              <a:t>Modelamiento</a:t>
            </a:r>
            <a:endParaRPr lang="en-US" sz="2100" dirty="0"/>
          </a:p>
        </p:txBody>
      </p:sp>
      <p:sp>
        <p:nvSpPr>
          <p:cNvPr id="21" name="Shape 18"/>
          <p:cNvSpPr/>
          <p:nvPr/>
        </p:nvSpPr>
        <p:spPr>
          <a:xfrm>
            <a:off x="4434840" y="3474720"/>
            <a:ext cx="3154680" cy="1024128"/>
          </a:xfrm>
          <a:prstGeom prst="roundRect">
            <a:avLst>
              <a:gd name="adj" fmla="val 5357"/>
            </a:avLst>
          </a:prstGeom>
          <a:solidFill>
            <a:srgbClr val="0B2D4A"/>
          </a:solidFill>
          <a:ln w="12700">
            <a:solidFill>
              <a:srgbClr val="FFFFFF">
                <a:alpha val="0"/>
              </a:srgbClr>
            </a:solidFill>
            <a:prstDash val="solid"/>
          </a:ln>
        </p:spPr>
        <p:txBody>
          <a:bodyPr/>
          <a:lstStyle/>
          <a:p>
            <a:endParaRPr lang="es-CL"/>
          </a:p>
        </p:txBody>
      </p:sp>
      <p:sp>
        <p:nvSpPr>
          <p:cNvPr id="22" name="Text 19"/>
          <p:cNvSpPr/>
          <p:nvPr/>
        </p:nvSpPr>
        <p:spPr>
          <a:xfrm>
            <a:off x="4572000" y="3639312"/>
            <a:ext cx="457200" cy="411480"/>
          </a:xfrm>
          <a:prstGeom prst="rect">
            <a:avLst/>
          </a:prstGeom>
          <a:noFill/>
          <a:ln/>
        </p:spPr>
        <p:txBody>
          <a:bodyPr wrap="square" lIns="0" tIns="0" rIns="0" bIns="0" rtlCol="0" anchor="ctr"/>
          <a:lstStyle/>
          <a:p>
            <a:pPr marL="0" indent="0">
              <a:buNone/>
            </a:pPr>
            <a:r>
              <a:rPr lang="en-US" sz="2400" b="1" dirty="0">
                <a:solidFill>
                  <a:srgbClr val="F6B700"/>
                </a:solidFill>
              </a:rPr>
              <a:t>5</a:t>
            </a:r>
            <a:endParaRPr lang="en-US" sz="2400" dirty="0"/>
          </a:p>
        </p:txBody>
      </p:sp>
      <p:sp>
        <p:nvSpPr>
          <p:cNvPr id="23" name="Text 20"/>
          <p:cNvSpPr/>
          <p:nvPr/>
        </p:nvSpPr>
        <p:spPr>
          <a:xfrm>
            <a:off x="5120640" y="3675888"/>
            <a:ext cx="2194560" cy="502920"/>
          </a:xfrm>
          <a:prstGeom prst="rect">
            <a:avLst/>
          </a:prstGeom>
          <a:noFill/>
          <a:ln/>
        </p:spPr>
        <p:txBody>
          <a:bodyPr wrap="square" lIns="254" tIns="254" rIns="254" bIns="254" rtlCol="0" anchor="ctr"/>
          <a:lstStyle/>
          <a:p>
            <a:pPr marL="0" indent="0">
              <a:buNone/>
            </a:pPr>
            <a:r>
              <a:rPr lang="en-US" sz="2100" b="1" dirty="0">
                <a:solidFill>
                  <a:srgbClr val="FFFFFF"/>
                </a:solidFill>
              </a:rPr>
              <a:t>Evaluación</a:t>
            </a:r>
            <a:endParaRPr lang="en-US" sz="2100" dirty="0"/>
          </a:p>
        </p:txBody>
      </p:sp>
      <p:sp>
        <p:nvSpPr>
          <p:cNvPr id="24" name="Shape 21"/>
          <p:cNvSpPr/>
          <p:nvPr/>
        </p:nvSpPr>
        <p:spPr>
          <a:xfrm>
            <a:off x="8092440" y="3474720"/>
            <a:ext cx="3154680" cy="1024128"/>
          </a:xfrm>
          <a:prstGeom prst="roundRect">
            <a:avLst>
              <a:gd name="adj" fmla="val 5357"/>
            </a:avLst>
          </a:prstGeom>
          <a:solidFill>
            <a:srgbClr val="1F5A85"/>
          </a:solidFill>
          <a:ln w="12700">
            <a:solidFill>
              <a:srgbClr val="FFFFFF">
                <a:alpha val="0"/>
              </a:srgbClr>
            </a:solidFill>
            <a:prstDash val="solid"/>
          </a:ln>
        </p:spPr>
        <p:txBody>
          <a:bodyPr/>
          <a:lstStyle/>
          <a:p>
            <a:endParaRPr lang="es-CL"/>
          </a:p>
        </p:txBody>
      </p:sp>
      <p:sp>
        <p:nvSpPr>
          <p:cNvPr id="25" name="Text 22"/>
          <p:cNvSpPr/>
          <p:nvPr/>
        </p:nvSpPr>
        <p:spPr>
          <a:xfrm>
            <a:off x="8229600" y="3639312"/>
            <a:ext cx="457200" cy="411480"/>
          </a:xfrm>
          <a:prstGeom prst="rect">
            <a:avLst/>
          </a:prstGeom>
          <a:noFill/>
          <a:ln/>
        </p:spPr>
        <p:txBody>
          <a:bodyPr wrap="square" lIns="0" tIns="0" rIns="0" bIns="0" rtlCol="0" anchor="ctr"/>
          <a:lstStyle/>
          <a:p>
            <a:pPr marL="0" indent="0">
              <a:buNone/>
            </a:pPr>
            <a:r>
              <a:rPr lang="en-US" sz="2400" b="1" dirty="0">
                <a:solidFill>
                  <a:srgbClr val="F6B700"/>
                </a:solidFill>
              </a:rPr>
              <a:t>6</a:t>
            </a:r>
            <a:endParaRPr lang="en-US" sz="2400" dirty="0"/>
          </a:p>
        </p:txBody>
      </p:sp>
      <p:sp>
        <p:nvSpPr>
          <p:cNvPr id="26" name="Text 23"/>
          <p:cNvSpPr/>
          <p:nvPr/>
        </p:nvSpPr>
        <p:spPr>
          <a:xfrm>
            <a:off x="8778240" y="3675888"/>
            <a:ext cx="2194560" cy="502920"/>
          </a:xfrm>
          <a:prstGeom prst="rect">
            <a:avLst/>
          </a:prstGeom>
          <a:noFill/>
          <a:ln/>
        </p:spPr>
        <p:txBody>
          <a:bodyPr wrap="square" lIns="254" tIns="254" rIns="254" bIns="254" rtlCol="0" anchor="ctr"/>
          <a:lstStyle/>
          <a:p>
            <a:pPr marL="0" indent="0">
              <a:buNone/>
            </a:pPr>
            <a:r>
              <a:rPr lang="en-US" sz="2100" b="1" dirty="0">
                <a:solidFill>
                  <a:srgbClr val="FFFFFF"/>
                </a:solidFill>
              </a:rPr>
              <a:t>Despliegue</a:t>
            </a:r>
            <a:endParaRPr lang="en-US" sz="2100" dirty="0"/>
          </a:p>
        </p:txBody>
      </p:sp>
      <p:sp>
        <p:nvSpPr>
          <p:cNvPr id="27" name="Text 24"/>
          <p:cNvSpPr/>
          <p:nvPr/>
        </p:nvSpPr>
        <p:spPr>
          <a:xfrm>
            <a:off x="868680" y="5166360"/>
            <a:ext cx="10378440" cy="822960"/>
          </a:xfrm>
          <a:prstGeom prst="rect">
            <a:avLst/>
          </a:prstGeom>
          <a:noFill/>
          <a:ln/>
        </p:spPr>
        <p:txBody>
          <a:bodyPr wrap="square" lIns="254" tIns="254" rIns="254" bIns="254" rtlCol="0" anchor="ctr">
            <a:normAutofit/>
          </a:bodyPr>
          <a:lstStyle/>
          <a:p>
            <a:pPr marL="0" indent="0">
              <a:buNone/>
            </a:pPr>
            <a:r>
              <a:rPr lang="en-US" sz="2000" dirty="0">
                <a:solidFill>
                  <a:srgbClr val="1F1F1F"/>
                </a:solidFill>
                <a:latin typeface="Calibri" pitchFamily="34" charset="0"/>
                <a:ea typeface="Calibri" pitchFamily="34" charset="-122"/>
                <a:cs typeface="Calibri" pitchFamily="34" charset="-120"/>
              </a:rPr>
              <a:t>Justificación de técnicas:</a:t>
            </a:r>
            <a:endParaRPr lang="en-US" sz="2000" dirty="0"/>
          </a:p>
          <a:p>
            <a:pPr marL="0" indent="0">
              <a:buNone/>
            </a:pPr>
            <a:r>
              <a:rPr lang="en-US" sz="2000" dirty="0">
                <a:solidFill>
                  <a:srgbClr val="1F1F1F"/>
                </a:solidFill>
                <a:latin typeface="Calibri" pitchFamily="34" charset="0"/>
                <a:ea typeface="Calibri" pitchFamily="34" charset="-122"/>
                <a:cs typeface="Calibri" pitchFamily="34" charset="-120"/>
              </a:rPr>
              <a:t>Clasificación responde a RainTomorrow. Clustering descubre perfiles climáticos. F1 y ROC-AUC evitan depender solo del accuracy.</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s-CL"/>
          </a:p>
        </p:txBody>
      </p:sp>
      <p:sp>
        <p:nvSpPr>
          <p:cNvPr id="3" name="Shape 1"/>
          <p:cNvSpPr/>
          <p:nvPr/>
        </p:nvSpPr>
        <p:spPr>
          <a:xfrm>
            <a:off x="0" y="0"/>
            <a:ext cx="12191695" cy="164592"/>
          </a:xfrm>
          <a:prstGeom prst="rect">
            <a:avLst/>
          </a:prstGeom>
          <a:solidFill>
            <a:srgbClr val="F6B700"/>
          </a:solidFill>
          <a:ln w="12700">
            <a:solidFill>
              <a:srgbClr val="F6B700"/>
            </a:solidFill>
            <a:prstDash val="solid"/>
          </a:ln>
        </p:spPr>
        <p:txBody>
          <a:bodyPr/>
          <a:lstStyle/>
          <a:p>
            <a:endParaRPr lang="es-CL"/>
          </a:p>
        </p:txBody>
      </p:sp>
      <p:sp>
        <p:nvSpPr>
          <p:cNvPr id="4" name="Shape 2"/>
          <p:cNvSpPr/>
          <p:nvPr/>
        </p:nvSpPr>
        <p:spPr>
          <a:xfrm>
            <a:off x="0" y="164592"/>
            <a:ext cx="12191695" cy="54864"/>
          </a:xfrm>
          <a:prstGeom prst="rect">
            <a:avLst/>
          </a:prstGeom>
          <a:solidFill>
            <a:srgbClr val="0B2D4A"/>
          </a:solidFill>
          <a:ln w="12700">
            <a:solidFill>
              <a:srgbClr val="0B2D4A"/>
            </a:solidFill>
            <a:prstDash val="solid"/>
          </a:ln>
        </p:spPr>
        <p:txBody>
          <a:bodyPr/>
          <a:lstStyle/>
          <a:p>
            <a:endParaRPr lang="es-CL"/>
          </a:p>
        </p:txBody>
      </p:sp>
      <p:pic>
        <p:nvPicPr>
          <p:cNvPr id="5" name="Image 0" descr="/mnt/data/work_docx/word/media/image1.png"/>
          <p:cNvPicPr>
            <a:picLocks noChangeAspect="1"/>
          </p:cNvPicPr>
          <p:nvPr/>
        </p:nvPicPr>
        <p:blipFill>
          <a:blip r:embed="rId3"/>
          <a:stretch>
            <a:fillRect/>
          </a:stretch>
        </p:blipFill>
        <p:spPr>
          <a:xfrm>
            <a:off x="10149840" y="402336"/>
            <a:ext cx="1325880" cy="384048"/>
          </a:xfrm>
          <a:prstGeom prst="rect">
            <a:avLst/>
          </a:prstGeom>
        </p:spPr>
      </p:pic>
      <p:sp>
        <p:nvSpPr>
          <p:cNvPr id="6" name="Text 3"/>
          <p:cNvSpPr/>
          <p:nvPr/>
        </p:nvSpPr>
        <p:spPr>
          <a:xfrm>
            <a:off x="594360" y="502920"/>
            <a:ext cx="8138160" cy="502920"/>
          </a:xfrm>
          <a:prstGeom prst="rect">
            <a:avLst/>
          </a:prstGeom>
          <a:noFill/>
          <a:ln/>
        </p:spPr>
        <p:txBody>
          <a:bodyPr wrap="square" lIns="254" tIns="254" rIns="254" bIns="254" rtlCol="0" anchor="ctr">
            <a:normAutofit/>
          </a:bodyPr>
          <a:lstStyle/>
          <a:p>
            <a:pPr marL="0" indent="0">
              <a:buNone/>
            </a:pPr>
            <a:r>
              <a:rPr lang="en-US" sz="2800" b="1" dirty="0">
                <a:solidFill>
                  <a:srgbClr val="0B2D4A"/>
                </a:solidFill>
                <a:latin typeface="Calibri" pitchFamily="34" charset="0"/>
                <a:ea typeface="Calibri" pitchFamily="34" charset="-122"/>
                <a:cs typeface="Calibri" pitchFamily="34" charset="-120"/>
              </a:rPr>
              <a:t>3. Datos y calidad</a:t>
            </a:r>
            <a:endParaRPr lang="en-US" sz="2800" dirty="0"/>
          </a:p>
        </p:txBody>
      </p:sp>
      <p:sp>
        <p:nvSpPr>
          <p:cNvPr id="7" name="Text 4"/>
          <p:cNvSpPr/>
          <p:nvPr/>
        </p:nvSpPr>
        <p:spPr>
          <a:xfrm>
            <a:off x="11475720" y="6327648"/>
            <a:ext cx="365760" cy="228600"/>
          </a:xfrm>
          <a:prstGeom prst="rect">
            <a:avLst/>
          </a:prstGeom>
          <a:noFill/>
          <a:ln/>
        </p:spPr>
        <p:txBody>
          <a:bodyPr wrap="square" lIns="0" tIns="0" rIns="0" bIns="0" rtlCol="0" anchor="ctr"/>
          <a:lstStyle/>
          <a:p>
            <a:pPr marL="0" indent="0" algn="r">
              <a:buNone/>
            </a:pPr>
            <a:r>
              <a:rPr lang="en-US" sz="2000" dirty="0">
                <a:solidFill>
                  <a:srgbClr val="5A6470"/>
                </a:solidFill>
              </a:rPr>
              <a:t>4</a:t>
            </a:r>
            <a:endParaRPr lang="en-US" sz="2000" dirty="0"/>
          </a:p>
        </p:txBody>
      </p:sp>
      <p:sp>
        <p:nvSpPr>
          <p:cNvPr id="8" name="Text 5"/>
          <p:cNvSpPr/>
          <p:nvPr/>
        </p:nvSpPr>
        <p:spPr>
          <a:xfrm>
            <a:off x="685800" y="1188720"/>
            <a:ext cx="4572000" cy="2743200"/>
          </a:xfrm>
          <a:prstGeom prst="rect">
            <a:avLst/>
          </a:prstGeom>
          <a:noFill/>
          <a:ln/>
        </p:spPr>
        <p:txBody>
          <a:bodyPr wrap="square" lIns="254" tIns="254" rIns="254" bIns="254" rtlCol="0" anchor="ctr">
            <a:normAutofit/>
          </a:bodyPr>
          <a:lstStyle/>
          <a:p>
            <a:pPr marL="0" indent="0">
              <a:buNone/>
            </a:pPr>
            <a:r>
              <a:rPr lang="en-US" sz="2100" dirty="0">
                <a:solidFill>
                  <a:srgbClr val="1F1F1F"/>
                </a:solidFill>
                <a:latin typeface="Calibri" pitchFamily="34" charset="0"/>
                <a:ea typeface="Calibri" pitchFamily="34" charset="-122"/>
                <a:cs typeface="Calibri" pitchFamily="34" charset="-120"/>
              </a:rPr>
              <a:t>Hallazgos antes del modelamiento:</a:t>
            </a:r>
            <a:endParaRPr lang="en-US" sz="2100" dirty="0"/>
          </a:p>
          <a:p>
            <a:pPr marL="0" indent="0">
              <a:buNone/>
            </a:pPr>
            <a:r>
              <a:rPr lang="en-US" sz="2100" dirty="0">
                <a:solidFill>
                  <a:srgbClr val="1F1F1F"/>
                </a:solidFill>
                <a:latin typeface="Calibri" pitchFamily="34" charset="0"/>
                <a:ea typeface="Calibri" pitchFamily="34" charset="-122"/>
                <a:cs typeface="Calibri" pitchFamily="34" charset="-120"/>
              </a:rPr>
              <a:t>• Las variables con más ausencia son Sunshine, Evaporation, Cloud3pm y Cloud9am.</a:t>
            </a:r>
            <a:endParaRPr lang="en-US" sz="2100" dirty="0"/>
          </a:p>
          <a:p>
            <a:pPr marL="0" indent="0">
              <a:buNone/>
            </a:pPr>
            <a:r>
              <a:rPr lang="en-US" sz="2100" dirty="0">
                <a:solidFill>
                  <a:srgbClr val="1F1F1F"/>
                </a:solidFill>
                <a:latin typeface="Calibri" pitchFamily="34" charset="0"/>
                <a:ea typeface="Calibri" pitchFamily="34" charset="-122"/>
                <a:cs typeface="Calibri" pitchFamily="34" charset="-120"/>
              </a:rPr>
              <a:t>• No se eliminaron filas masivamente para no perder información meteorológica útil.</a:t>
            </a:r>
            <a:endParaRPr lang="en-US" sz="2100" dirty="0"/>
          </a:p>
          <a:p>
            <a:pPr marL="0" indent="0">
              <a:buNone/>
            </a:pPr>
            <a:r>
              <a:rPr lang="en-US" sz="2100" dirty="0">
                <a:solidFill>
                  <a:srgbClr val="1F1F1F"/>
                </a:solidFill>
                <a:latin typeface="Calibri" pitchFamily="34" charset="0"/>
                <a:ea typeface="Calibri" pitchFamily="34" charset="-122"/>
                <a:cs typeface="Calibri" pitchFamily="34" charset="-120"/>
              </a:rPr>
              <a:t>• RISK_MM se excluyó para evitar fuga de información futura.</a:t>
            </a:r>
            <a:endParaRPr lang="en-US" sz="2100" dirty="0"/>
          </a:p>
        </p:txBody>
      </p:sp>
      <p:pic>
        <p:nvPicPr>
          <p:cNvPr id="9" name="Image 1" descr="/mnt/data/work_docx/word/media/image2.png"/>
          <p:cNvPicPr>
            <a:picLocks noChangeAspect="1"/>
          </p:cNvPicPr>
          <p:nvPr/>
        </p:nvPicPr>
        <p:blipFill>
          <a:blip r:embed="rId4"/>
          <a:stretch>
            <a:fillRect/>
          </a:stretch>
        </p:blipFill>
        <p:spPr>
          <a:xfrm>
            <a:off x="5623560" y="1359342"/>
            <a:ext cx="5989320" cy="3819277"/>
          </a:xfrm>
          <a:prstGeom prst="rect">
            <a:avLst/>
          </a:prstGeom>
        </p:spPr>
      </p:pic>
      <p:sp>
        <p:nvSpPr>
          <p:cNvPr id="10" name="Shape 6"/>
          <p:cNvSpPr/>
          <p:nvPr/>
        </p:nvSpPr>
        <p:spPr>
          <a:xfrm>
            <a:off x="685800" y="4343400"/>
            <a:ext cx="4572000" cy="1143000"/>
          </a:xfrm>
          <a:prstGeom prst="roundRect">
            <a:avLst>
              <a:gd name="adj" fmla="val 4800"/>
            </a:avLst>
          </a:prstGeom>
          <a:solidFill>
            <a:srgbClr val="F4F8FB"/>
          </a:solidFill>
          <a:ln w="12700">
            <a:solidFill>
              <a:srgbClr val="DDEAF4"/>
            </a:solidFill>
            <a:prstDash val="solid"/>
          </a:ln>
        </p:spPr>
        <p:txBody>
          <a:bodyPr/>
          <a:lstStyle/>
          <a:p>
            <a:endParaRPr lang="es-CL"/>
          </a:p>
        </p:txBody>
      </p:sp>
      <p:sp>
        <p:nvSpPr>
          <p:cNvPr id="11" name="Text 7"/>
          <p:cNvSpPr/>
          <p:nvPr/>
        </p:nvSpPr>
        <p:spPr>
          <a:xfrm>
            <a:off x="960120" y="4394662"/>
            <a:ext cx="4023360" cy="256032"/>
          </a:xfrm>
          <a:prstGeom prst="rect">
            <a:avLst/>
          </a:prstGeom>
          <a:noFill/>
          <a:ln/>
        </p:spPr>
        <p:txBody>
          <a:bodyPr wrap="square" lIns="0" tIns="0" rIns="0" bIns="0" rtlCol="0" anchor="ctr"/>
          <a:lstStyle/>
          <a:p>
            <a:pPr marL="0" indent="0">
              <a:buNone/>
            </a:pPr>
            <a:r>
              <a:rPr lang="en-US" sz="2000" b="1" dirty="0">
                <a:solidFill>
                  <a:srgbClr val="1F5A85"/>
                </a:solidFill>
              </a:rPr>
              <a:t>Decisión clave</a:t>
            </a:r>
            <a:endParaRPr lang="en-US" sz="2000" dirty="0"/>
          </a:p>
        </p:txBody>
      </p:sp>
      <p:sp>
        <p:nvSpPr>
          <p:cNvPr id="12" name="Text 8"/>
          <p:cNvSpPr/>
          <p:nvPr/>
        </p:nvSpPr>
        <p:spPr>
          <a:xfrm>
            <a:off x="960120" y="4864608"/>
            <a:ext cx="4023360" cy="411480"/>
          </a:xfrm>
          <a:prstGeom prst="rect">
            <a:avLst/>
          </a:prstGeom>
          <a:noFill/>
          <a:ln/>
        </p:spPr>
        <p:txBody>
          <a:bodyPr wrap="square" lIns="0" tIns="0" rIns="0" bIns="0" rtlCol="0" anchor="ctr"/>
          <a:lstStyle/>
          <a:p>
            <a:pPr marL="0" indent="0">
              <a:buNone/>
            </a:pPr>
            <a:r>
              <a:rPr lang="en-US" sz="2000" dirty="0">
                <a:solidFill>
                  <a:srgbClr val="1F1F1F"/>
                </a:solidFill>
              </a:rPr>
              <a:t>La limpieza prepara el dataset para un escenario real, no para “maquillar” los datos.</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s-CL"/>
          </a:p>
        </p:txBody>
      </p:sp>
      <p:sp>
        <p:nvSpPr>
          <p:cNvPr id="3" name="Shape 1"/>
          <p:cNvSpPr/>
          <p:nvPr/>
        </p:nvSpPr>
        <p:spPr>
          <a:xfrm>
            <a:off x="0" y="0"/>
            <a:ext cx="12191695" cy="164592"/>
          </a:xfrm>
          <a:prstGeom prst="rect">
            <a:avLst/>
          </a:prstGeom>
          <a:solidFill>
            <a:srgbClr val="F6B700"/>
          </a:solidFill>
          <a:ln w="12700">
            <a:solidFill>
              <a:srgbClr val="F6B700"/>
            </a:solidFill>
            <a:prstDash val="solid"/>
          </a:ln>
        </p:spPr>
        <p:txBody>
          <a:bodyPr/>
          <a:lstStyle/>
          <a:p>
            <a:endParaRPr lang="es-CL"/>
          </a:p>
        </p:txBody>
      </p:sp>
      <p:sp>
        <p:nvSpPr>
          <p:cNvPr id="4" name="Shape 2"/>
          <p:cNvSpPr/>
          <p:nvPr/>
        </p:nvSpPr>
        <p:spPr>
          <a:xfrm>
            <a:off x="0" y="164592"/>
            <a:ext cx="12191695" cy="54864"/>
          </a:xfrm>
          <a:prstGeom prst="rect">
            <a:avLst/>
          </a:prstGeom>
          <a:solidFill>
            <a:srgbClr val="0B2D4A"/>
          </a:solidFill>
          <a:ln w="12700">
            <a:solidFill>
              <a:srgbClr val="0B2D4A"/>
            </a:solidFill>
            <a:prstDash val="solid"/>
          </a:ln>
        </p:spPr>
        <p:txBody>
          <a:bodyPr/>
          <a:lstStyle/>
          <a:p>
            <a:endParaRPr lang="es-CL"/>
          </a:p>
        </p:txBody>
      </p:sp>
      <p:pic>
        <p:nvPicPr>
          <p:cNvPr id="5" name="Image 0" descr="/mnt/data/work_docx/word/media/image1.png"/>
          <p:cNvPicPr>
            <a:picLocks noChangeAspect="1"/>
          </p:cNvPicPr>
          <p:nvPr/>
        </p:nvPicPr>
        <p:blipFill>
          <a:blip r:embed="rId3"/>
          <a:stretch>
            <a:fillRect/>
          </a:stretch>
        </p:blipFill>
        <p:spPr>
          <a:xfrm>
            <a:off x="10149840" y="402336"/>
            <a:ext cx="1325880" cy="384048"/>
          </a:xfrm>
          <a:prstGeom prst="rect">
            <a:avLst/>
          </a:prstGeom>
        </p:spPr>
      </p:pic>
      <p:sp>
        <p:nvSpPr>
          <p:cNvPr id="6" name="Text 3"/>
          <p:cNvSpPr/>
          <p:nvPr/>
        </p:nvSpPr>
        <p:spPr>
          <a:xfrm>
            <a:off x="594360" y="502920"/>
            <a:ext cx="8138160" cy="502920"/>
          </a:xfrm>
          <a:prstGeom prst="rect">
            <a:avLst/>
          </a:prstGeom>
          <a:noFill/>
          <a:ln/>
        </p:spPr>
        <p:txBody>
          <a:bodyPr wrap="square" lIns="254" tIns="254" rIns="254" bIns="254" rtlCol="0" anchor="ctr">
            <a:normAutofit/>
          </a:bodyPr>
          <a:lstStyle/>
          <a:p>
            <a:pPr marL="0" indent="0">
              <a:buNone/>
            </a:pPr>
            <a:r>
              <a:rPr lang="en-US" sz="2800" b="1" dirty="0">
                <a:solidFill>
                  <a:srgbClr val="0B2D4A"/>
                </a:solidFill>
                <a:latin typeface="Calibri" pitchFamily="34" charset="0"/>
                <a:ea typeface="Calibri" pitchFamily="34" charset="-122"/>
                <a:cs typeface="Calibri" pitchFamily="34" charset="-120"/>
              </a:rPr>
              <a:t>4. Preparación de datos</a:t>
            </a:r>
            <a:endParaRPr lang="en-US" sz="2800" dirty="0"/>
          </a:p>
        </p:txBody>
      </p:sp>
      <p:sp>
        <p:nvSpPr>
          <p:cNvPr id="7" name="Text 4"/>
          <p:cNvSpPr/>
          <p:nvPr/>
        </p:nvSpPr>
        <p:spPr>
          <a:xfrm>
            <a:off x="11475720" y="6327648"/>
            <a:ext cx="365760" cy="228600"/>
          </a:xfrm>
          <a:prstGeom prst="rect">
            <a:avLst/>
          </a:prstGeom>
          <a:noFill/>
          <a:ln/>
        </p:spPr>
        <p:txBody>
          <a:bodyPr wrap="square" lIns="0" tIns="0" rIns="0" bIns="0" rtlCol="0" anchor="ctr"/>
          <a:lstStyle/>
          <a:p>
            <a:pPr marL="0" indent="0" algn="r">
              <a:buNone/>
            </a:pPr>
            <a:r>
              <a:rPr lang="en-US" sz="2000" dirty="0">
                <a:solidFill>
                  <a:srgbClr val="5A6470"/>
                </a:solidFill>
              </a:rPr>
              <a:t>5</a:t>
            </a:r>
            <a:endParaRPr lang="en-US" sz="2000" dirty="0"/>
          </a:p>
        </p:txBody>
      </p:sp>
      <p:sp>
        <p:nvSpPr>
          <p:cNvPr id="8" name="Text 5"/>
          <p:cNvSpPr/>
          <p:nvPr/>
        </p:nvSpPr>
        <p:spPr>
          <a:xfrm>
            <a:off x="685800" y="1143000"/>
            <a:ext cx="7132320" cy="594360"/>
          </a:xfrm>
          <a:prstGeom prst="rect">
            <a:avLst/>
          </a:prstGeom>
          <a:noFill/>
          <a:ln/>
        </p:spPr>
        <p:txBody>
          <a:bodyPr wrap="square" lIns="254" tIns="254" rIns="254" bIns="254" rtlCol="0" anchor="ctr">
            <a:normAutofit/>
          </a:bodyPr>
          <a:lstStyle/>
          <a:p>
            <a:pPr marL="0" indent="0">
              <a:buNone/>
            </a:pPr>
            <a:r>
              <a:rPr lang="en-US" sz="2200" dirty="0">
                <a:solidFill>
                  <a:srgbClr val="1F1F1F"/>
                </a:solidFill>
                <a:latin typeface="Calibri" pitchFamily="34" charset="0"/>
                <a:ea typeface="Calibri" pitchFamily="34" charset="-122"/>
                <a:cs typeface="Calibri" pitchFamily="34" charset="-120"/>
              </a:rPr>
              <a:t>Antes de entrenar modelos, se dejó un flujo reproducible de limpieza, transformación y validación.</a:t>
            </a:r>
            <a:endParaRPr lang="en-US" sz="2200" dirty="0"/>
          </a:p>
        </p:txBody>
      </p:sp>
      <p:sp>
        <p:nvSpPr>
          <p:cNvPr id="9" name="Shape 6"/>
          <p:cNvSpPr/>
          <p:nvPr/>
        </p:nvSpPr>
        <p:spPr>
          <a:xfrm>
            <a:off x="777240" y="2331720"/>
            <a:ext cx="2377440" cy="1143000"/>
          </a:xfrm>
          <a:prstGeom prst="chevron">
            <a:avLst/>
          </a:prstGeom>
          <a:solidFill>
            <a:srgbClr val="0B2D4A"/>
          </a:solidFill>
          <a:ln w="12700">
            <a:solidFill>
              <a:srgbClr val="FFFFFF">
                <a:alpha val="0"/>
              </a:srgbClr>
            </a:solidFill>
            <a:prstDash val="solid"/>
          </a:ln>
        </p:spPr>
        <p:txBody>
          <a:bodyPr/>
          <a:lstStyle/>
          <a:p>
            <a:endParaRPr lang="es-CL"/>
          </a:p>
        </p:txBody>
      </p:sp>
      <p:sp>
        <p:nvSpPr>
          <p:cNvPr id="10" name="Text 7"/>
          <p:cNvSpPr/>
          <p:nvPr/>
        </p:nvSpPr>
        <p:spPr>
          <a:xfrm>
            <a:off x="960120" y="2514600"/>
            <a:ext cx="1645920" cy="320040"/>
          </a:xfrm>
          <a:prstGeom prst="rect">
            <a:avLst/>
          </a:prstGeom>
          <a:noFill/>
          <a:ln/>
        </p:spPr>
        <p:txBody>
          <a:bodyPr wrap="square" lIns="0" tIns="0" rIns="0" bIns="0" rtlCol="0" anchor="ctr"/>
          <a:lstStyle/>
          <a:p>
            <a:pPr marL="0" indent="0" algn="ctr">
              <a:buNone/>
            </a:pPr>
            <a:r>
              <a:rPr lang="en-US" sz="2200" b="1" dirty="0">
                <a:solidFill>
                  <a:srgbClr val="FFFFFF"/>
                </a:solidFill>
              </a:rPr>
              <a:t>Entrada</a:t>
            </a:r>
            <a:endParaRPr lang="en-US" sz="2200" dirty="0"/>
          </a:p>
        </p:txBody>
      </p:sp>
      <p:sp>
        <p:nvSpPr>
          <p:cNvPr id="11" name="Text 8"/>
          <p:cNvSpPr/>
          <p:nvPr/>
        </p:nvSpPr>
        <p:spPr>
          <a:xfrm>
            <a:off x="1167945" y="2898648"/>
            <a:ext cx="1737360" cy="347472"/>
          </a:xfrm>
          <a:prstGeom prst="rect">
            <a:avLst/>
          </a:prstGeom>
          <a:noFill/>
          <a:ln/>
        </p:spPr>
        <p:txBody>
          <a:bodyPr wrap="square" lIns="0" tIns="0" rIns="0" bIns="0" rtlCol="0" anchor="ctr">
            <a:normAutofit/>
          </a:bodyPr>
          <a:lstStyle/>
          <a:p>
            <a:pPr marL="0" indent="0" algn="ctr">
              <a:buNone/>
            </a:pPr>
            <a:r>
              <a:rPr lang="en-US" sz="2000" dirty="0">
                <a:solidFill>
                  <a:srgbClr val="FFFFFF"/>
                </a:solidFill>
              </a:rPr>
              <a:t>weatherAUS.csv</a:t>
            </a:r>
            <a:endParaRPr lang="en-US" sz="2000" dirty="0"/>
          </a:p>
        </p:txBody>
      </p:sp>
      <p:sp>
        <p:nvSpPr>
          <p:cNvPr id="12" name="Shape 9"/>
          <p:cNvSpPr/>
          <p:nvPr/>
        </p:nvSpPr>
        <p:spPr>
          <a:xfrm>
            <a:off x="3566160" y="2331720"/>
            <a:ext cx="2377440" cy="1143000"/>
          </a:xfrm>
          <a:prstGeom prst="chevron">
            <a:avLst/>
          </a:prstGeom>
          <a:solidFill>
            <a:srgbClr val="1F5A85"/>
          </a:solidFill>
          <a:ln w="12700">
            <a:solidFill>
              <a:srgbClr val="FFFFFF">
                <a:alpha val="0"/>
              </a:srgbClr>
            </a:solidFill>
            <a:prstDash val="solid"/>
          </a:ln>
        </p:spPr>
        <p:txBody>
          <a:bodyPr/>
          <a:lstStyle/>
          <a:p>
            <a:endParaRPr lang="es-CL"/>
          </a:p>
        </p:txBody>
      </p:sp>
      <p:sp>
        <p:nvSpPr>
          <p:cNvPr id="13" name="Text 10"/>
          <p:cNvSpPr/>
          <p:nvPr/>
        </p:nvSpPr>
        <p:spPr>
          <a:xfrm>
            <a:off x="3749040" y="2514600"/>
            <a:ext cx="1645920" cy="320040"/>
          </a:xfrm>
          <a:prstGeom prst="rect">
            <a:avLst/>
          </a:prstGeom>
          <a:noFill/>
          <a:ln/>
        </p:spPr>
        <p:txBody>
          <a:bodyPr wrap="square" lIns="0" tIns="0" rIns="0" bIns="0" rtlCol="0" anchor="ctr"/>
          <a:lstStyle/>
          <a:p>
            <a:pPr marL="0" indent="0" algn="ctr">
              <a:buNone/>
            </a:pPr>
            <a:r>
              <a:rPr lang="en-US" sz="2200" b="1" dirty="0">
                <a:solidFill>
                  <a:srgbClr val="FFFFFF"/>
                </a:solidFill>
              </a:rPr>
              <a:t>Limpieza</a:t>
            </a:r>
            <a:endParaRPr lang="en-US" sz="2200" dirty="0"/>
          </a:p>
        </p:txBody>
      </p:sp>
      <p:sp>
        <p:nvSpPr>
          <p:cNvPr id="14" name="Text 11"/>
          <p:cNvSpPr/>
          <p:nvPr/>
        </p:nvSpPr>
        <p:spPr>
          <a:xfrm>
            <a:off x="3929152" y="2898648"/>
            <a:ext cx="1737360" cy="347472"/>
          </a:xfrm>
          <a:prstGeom prst="rect">
            <a:avLst/>
          </a:prstGeom>
          <a:noFill/>
          <a:ln/>
        </p:spPr>
        <p:txBody>
          <a:bodyPr wrap="square" lIns="0" tIns="0" rIns="0" bIns="0" rtlCol="0" anchor="ctr">
            <a:normAutofit/>
          </a:bodyPr>
          <a:lstStyle/>
          <a:p>
            <a:pPr marL="0" indent="0" algn="ctr">
              <a:buNone/>
            </a:pPr>
            <a:r>
              <a:rPr lang="en-US" sz="2000" dirty="0">
                <a:solidFill>
                  <a:srgbClr val="FFFFFF"/>
                </a:solidFill>
              </a:rPr>
              <a:t>textos y fecha</a:t>
            </a:r>
            <a:endParaRPr lang="en-US" sz="2000" dirty="0"/>
          </a:p>
        </p:txBody>
      </p:sp>
      <p:sp>
        <p:nvSpPr>
          <p:cNvPr id="15" name="Shape 12"/>
          <p:cNvSpPr/>
          <p:nvPr/>
        </p:nvSpPr>
        <p:spPr>
          <a:xfrm>
            <a:off x="6355080" y="2331720"/>
            <a:ext cx="2377440" cy="1143000"/>
          </a:xfrm>
          <a:prstGeom prst="chevron">
            <a:avLst/>
          </a:prstGeom>
          <a:solidFill>
            <a:srgbClr val="3A7AA2"/>
          </a:solidFill>
          <a:ln w="12700">
            <a:solidFill>
              <a:srgbClr val="FFFFFF">
                <a:alpha val="0"/>
              </a:srgbClr>
            </a:solidFill>
            <a:prstDash val="solid"/>
          </a:ln>
        </p:spPr>
        <p:txBody>
          <a:bodyPr/>
          <a:lstStyle/>
          <a:p>
            <a:endParaRPr lang="es-CL"/>
          </a:p>
        </p:txBody>
      </p:sp>
      <p:sp>
        <p:nvSpPr>
          <p:cNvPr id="16" name="Text 13"/>
          <p:cNvSpPr/>
          <p:nvPr/>
        </p:nvSpPr>
        <p:spPr>
          <a:xfrm>
            <a:off x="6773490" y="2514600"/>
            <a:ext cx="1645920" cy="320040"/>
          </a:xfrm>
          <a:prstGeom prst="rect">
            <a:avLst/>
          </a:prstGeom>
          <a:noFill/>
          <a:ln/>
        </p:spPr>
        <p:txBody>
          <a:bodyPr wrap="square" lIns="0" tIns="0" rIns="0" bIns="0" rtlCol="0" anchor="ctr"/>
          <a:lstStyle/>
          <a:p>
            <a:pPr marL="0" indent="0" algn="ctr">
              <a:buNone/>
            </a:pPr>
            <a:r>
              <a:rPr lang="en-US" sz="2200" b="1" dirty="0">
                <a:solidFill>
                  <a:srgbClr val="FFFFFF"/>
                </a:solidFill>
              </a:rPr>
              <a:t>Preparación</a:t>
            </a:r>
            <a:endParaRPr lang="en-US" sz="2200" dirty="0"/>
          </a:p>
        </p:txBody>
      </p:sp>
      <p:sp>
        <p:nvSpPr>
          <p:cNvPr id="17" name="Text 14"/>
          <p:cNvSpPr/>
          <p:nvPr/>
        </p:nvSpPr>
        <p:spPr>
          <a:xfrm>
            <a:off x="6787345" y="2898648"/>
            <a:ext cx="1714110" cy="320040"/>
          </a:xfrm>
          <a:prstGeom prst="rect">
            <a:avLst/>
          </a:prstGeom>
          <a:noFill/>
          <a:ln/>
        </p:spPr>
        <p:txBody>
          <a:bodyPr wrap="square" lIns="0" tIns="0" rIns="0" bIns="0" rtlCol="0" anchor="ctr">
            <a:normAutofit fontScale="85000" lnSpcReduction="10000"/>
          </a:bodyPr>
          <a:lstStyle/>
          <a:p>
            <a:pPr marL="0" indent="0" algn="ctr">
              <a:buNone/>
            </a:pPr>
            <a:r>
              <a:rPr lang="en-US" sz="2000" dirty="0">
                <a:solidFill>
                  <a:srgbClr val="FFFFFF"/>
                </a:solidFill>
              </a:rPr>
              <a:t>imputar y One-Hot</a:t>
            </a:r>
            <a:endParaRPr lang="en-US" sz="2000" dirty="0"/>
          </a:p>
        </p:txBody>
      </p:sp>
      <p:sp>
        <p:nvSpPr>
          <p:cNvPr id="18" name="Shape 15"/>
          <p:cNvSpPr/>
          <p:nvPr/>
        </p:nvSpPr>
        <p:spPr>
          <a:xfrm>
            <a:off x="9144000" y="2331720"/>
            <a:ext cx="2377440" cy="1143000"/>
          </a:xfrm>
          <a:prstGeom prst="chevron">
            <a:avLst/>
          </a:prstGeom>
          <a:solidFill>
            <a:srgbClr val="F6B700"/>
          </a:solidFill>
          <a:ln w="12700">
            <a:solidFill>
              <a:srgbClr val="FFFFFF">
                <a:alpha val="0"/>
              </a:srgbClr>
            </a:solidFill>
            <a:prstDash val="solid"/>
          </a:ln>
        </p:spPr>
        <p:txBody>
          <a:bodyPr/>
          <a:lstStyle/>
          <a:p>
            <a:endParaRPr lang="es-CL"/>
          </a:p>
        </p:txBody>
      </p:sp>
      <p:sp>
        <p:nvSpPr>
          <p:cNvPr id="19" name="Text 16"/>
          <p:cNvSpPr/>
          <p:nvPr/>
        </p:nvSpPr>
        <p:spPr>
          <a:xfrm>
            <a:off x="9326880" y="2514600"/>
            <a:ext cx="1645920" cy="320040"/>
          </a:xfrm>
          <a:prstGeom prst="rect">
            <a:avLst/>
          </a:prstGeom>
          <a:noFill/>
          <a:ln/>
        </p:spPr>
        <p:txBody>
          <a:bodyPr wrap="square" lIns="0" tIns="0" rIns="0" bIns="0" rtlCol="0" anchor="ctr"/>
          <a:lstStyle/>
          <a:p>
            <a:pPr marL="0" indent="0" algn="ctr">
              <a:buNone/>
            </a:pPr>
            <a:r>
              <a:rPr lang="en-US" sz="2200" b="1" dirty="0">
                <a:solidFill>
                  <a:srgbClr val="0B2D4A"/>
                </a:solidFill>
              </a:rPr>
              <a:t>Modelos</a:t>
            </a:r>
            <a:endParaRPr lang="en-US" sz="2200" dirty="0"/>
          </a:p>
        </p:txBody>
      </p:sp>
      <p:sp>
        <p:nvSpPr>
          <p:cNvPr id="20" name="Text 17"/>
          <p:cNvSpPr/>
          <p:nvPr/>
        </p:nvSpPr>
        <p:spPr>
          <a:xfrm>
            <a:off x="9659394" y="2898648"/>
            <a:ext cx="1474121" cy="320040"/>
          </a:xfrm>
          <a:prstGeom prst="rect">
            <a:avLst/>
          </a:prstGeom>
          <a:noFill/>
          <a:ln/>
        </p:spPr>
        <p:txBody>
          <a:bodyPr wrap="square" lIns="0" tIns="0" rIns="0" bIns="0" rtlCol="0" anchor="ctr">
            <a:normAutofit fontScale="77500" lnSpcReduction="20000"/>
          </a:bodyPr>
          <a:lstStyle/>
          <a:p>
            <a:pPr marL="0" indent="0" algn="ctr">
              <a:buNone/>
            </a:pPr>
            <a:r>
              <a:rPr lang="en-US" sz="2000" dirty="0">
                <a:solidFill>
                  <a:srgbClr val="0B2D4A"/>
                </a:solidFill>
              </a:rPr>
              <a:t>métricas y salidas</a:t>
            </a:r>
            <a:endParaRPr lang="en-US" sz="2000" dirty="0"/>
          </a:p>
        </p:txBody>
      </p:sp>
      <p:sp>
        <p:nvSpPr>
          <p:cNvPr id="21" name="Text 18"/>
          <p:cNvSpPr/>
          <p:nvPr/>
        </p:nvSpPr>
        <p:spPr>
          <a:xfrm>
            <a:off x="914400" y="4343400"/>
            <a:ext cx="10149840" cy="1143000"/>
          </a:xfrm>
          <a:prstGeom prst="rect">
            <a:avLst/>
          </a:prstGeom>
          <a:noFill/>
          <a:ln/>
        </p:spPr>
        <p:txBody>
          <a:bodyPr wrap="square" lIns="254" tIns="254" rIns="254" bIns="254" rtlCol="0" anchor="ctr">
            <a:normAutofit/>
          </a:bodyPr>
          <a:lstStyle/>
          <a:p>
            <a:pPr marL="0" indent="0">
              <a:buNone/>
            </a:pPr>
            <a:r>
              <a:rPr lang="en-US" sz="2000" dirty="0">
                <a:solidFill>
                  <a:srgbClr val="1F1F1F"/>
                </a:solidFill>
                <a:latin typeface="Calibri" pitchFamily="34" charset="0"/>
                <a:ea typeface="Calibri" pitchFamily="34" charset="-122"/>
                <a:cs typeface="Calibri" pitchFamily="34" charset="-120"/>
              </a:rPr>
              <a:t>Transformaciones aplicadas:</a:t>
            </a:r>
            <a:endParaRPr lang="en-US" sz="2000" dirty="0"/>
          </a:p>
          <a:p>
            <a:pPr marL="0" indent="0">
              <a:buNone/>
            </a:pPr>
            <a:r>
              <a:rPr lang="en-US" sz="2000" dirty="0">
                <a:solidFill>
                  <a:srgbClr val="1F1F1F"/>
                </a:solidFill>
                <a:latin typeface="Calibri" pitchFamily="34" charset="0"/>
                <a:ea typeface="Calibri" pitchFamily="34" charset="-122"/>
                <a:cs typeface="Calibri" pitchFamily="34" charset="-120"/>
              </a:rPr>
              <a:t>• Conversión de Date a variables temporales.</a:t>
            </a:r>
            <a:endParaRPr lang="en-US" sz="2000" dirty="0"/>
          </a:p>
          <a:p>
            <a:pPr marL="0" indent="0">
              <a:buNone/>
            </a:pPr>
            <a:r>
              <a:rPr lang="en-US" sz="2000" dirty="0">
                <a:solidFill>
                  <a:srgbClr val="1F1F1F"/>
                </a:solidFill>
                <a:latin typeface="Calibri" pitchFamily="34" charset="0"/>
                <a:ea typeface="Calibri" pitchFamily="34" charset="-122"/>
                <a:cs typeface="Calibri" pitchFamily="34" charset="-120"/>
              </a:rPr>
              <a:t>• Eliminación de registros sin RainTomorrow para supervisado.</a:t>
            </a:r>
            <a:endParaRPr lang="en-US" sz="2000" dirty="0"/>
          </a:p>
          <a:p>
            <a:pPr marL="0" indent="0">
              <a:buNone/>
            </a:pPr>
            <a:r>
              <a:rPr lang="en-US" sz="2000" dirty="0">
                <a:solidFill>
                  <a:srgbClr val="1F1F1F"/>
                </a:solidFill>
                <a:latin typeface="Calibri" pitchFamily="34" charset="0"/>
                <a:ea typeface="Calibri" pitchFamily="34" charset="-122"/>
                <a:cs typeface="Calibri" pitchFamily="34" charset="-120"/>
              </a:rPr>
              <a:t>• Separación train/test estratificada.</a:t>
            </a:r>
            <a:endParaRPr lang="en-US" sz="2000" dirty="0"/>
          </a:p>
          <a:p>
            <a:pPr marL="0" indent="0">
              <a:buNone/>
            </a:pPr>
            <a:r>
              <a:rPr lang="en-US" sz="2000" dirty="0">
                <a:solidFill>
                  <a:srgbClr val="1F1F1F"/>
                </a:solidFill>
                <a:latin typeface="Calibri" pitchFamily="34" charset="0"/>
                <a:ea typeface="Calibri" pitchFamily="34" charset="-122"/>
                <a:cs typeface="Calibri" pitchFamily="34" charset="-120"/>
              </a:rPr>
              <a:t>• Pipeline único para evitar diferencias entre entrenamiento y prueba.</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s-CL"/>
          </a:p>
        </p:txBody>
      </p:sp>
      <p:sp>
        <p:nvSpPr>
          <p:cNvPr id="3" name="Shape 1"/>
          <p:cNvSpPr/>
          <p:nvPr/>
        </p:nvSpPr>
        <p:spPr>
          <a:xfrm>
            <a:off x="0" y="0"/>
            <a:ext cx="12191695" cy="164592"/>
          </a:xfrm>
          <a:prstGeom prst="rect">
            <a:avLst/>
          </a:prstGeom>
          <a:solidFill>
            <a:srgbClr val="F6B700"/>
          </a:solidFill>
          <a:ln w="12700">
            <a:solidFill>
              <a:srgbClr val="F6B700"/>
            </a:solidFill>
            <a:prstDash val="solid"/>
          </a:ln>
        </p:spPr>
        <p:txBody>
          <a:bodyPr/>
          <a:lstStyle/>
          <a:p>
            <a:endParaRPr lang="es-CL"/>
          </a:p>
        </p:txBody>
      </p:sp>
      <p:sp>
        <p:nvSpPr>
          <p:cNvPr id="4" name="Shape 2"/>
          <p:cNvSpPr/>
          <p:nvPr/>
        </p:nvSpPr>
        <p:spPr>
          <a:xfrm>
            <a:off x="0" y="164592"/>
            <a:ext cx="12191695" cy="54864"/>
          </a:xfrm>
          <a:prstGeom prst="rect">
            <a:avLst/>
          </a:prstGeom>
          <a:solidFill>
            <a:srgbClr val="0B2D4A"/>
          </a:solidFill>
          <a:ln w="12700">
            <a:solidFill>
              <a:srgbClr val="0B2D4A"/>
            </a:solidFill>
            <a:prstDash val="solid"/>
          </a:ln>
        </p:spPr>
        <p:txBody>
          <a:bodyPr/>
          <a:lstStyle/>
          <a:p>
            <a:endParaRPr lang="es-CL"/>
          </a:p>
        </p:txBody>
      </p:sp>
      <p:pic>
        <p:nvPicPr>
          <p:cNvPr id="5" name="Image 0" descr="/mnt/data/work_docx/word/media/image1.png"/>
          <p:cNvPicPr>
            <a:picLocks noChangeAspect="1"/>
          </p:cNvPicPr>
          <p:nvPr/>
        </p:nvPicPr>
        <p:blipFill>
          <a:blip r:embed="rId3"/>
          <a:stretch>
            <a:fillRect/>
          </a:stretch>
        </p:blipFill>
        <p:spPr>
          <a:xfrm>
            <a:off x="10149840" y="402336"/>
            <a:ext cx="1325880" cy="384048"/>
          </a:xfrm>
          <a:prstGeom prst="rect">
            <a:avLst/>
          </a:prstGeom>
        </p:spPr>
      </p:pic>
      <p:sp>
        <p:nvSpPr>
          <p:cNvPr id="6" name="Text 3"/>
          <p:cNvSpPr/>
          <p:nvPr/>
        </p:nvSpPr>
        <p:spPr>
          <a:xfrm>
            <a:off x="594360" y="502920"/>
            <a:ext cx="8138160" cy="502920"/>
          </a:xfrm>
          <a:prstGeom prst="rect">
            <a:avLst/>
          </a:prstGeom>
          <a:noFill/>
          <a:ln/>
        </p:spPr>
        <p:txBody>
          <a:bodyPr wrap="square" lIns="254" tIns="254" rIns="254" bIns="254" rtlCol="0" anchor="ctr">
            <a:normAutofit/>
          </a:bodyPr>
          <a:lstStyle/>
          <a:p>
            <a:pPr marL="0" indent="0">
              <a:buNone/>
            </a:pPr>
            <a:r>
              <a:rPr lang="en-US" sz="2800" b="1" dirty="0">
                <a:solidFill>
                  <a:srgbClr val="0B2D4A"/>
                </a:solidFill>
                <a:latin typeface="Calibri" pitchFamily="34" charset="0"/>
                <a:ea typeface="Calibri" pitchFamily="34" charset="-122"/>
                <a:cs typeface="Calibri" pitchFamily="34" charset="-120"/>
              </a:rPr>
              <a:t>5. Patrones exploratorios</a:t>
            </a:r>
            <a:endParaRPr lang="en-US" sz="2800" dirty="0"/>
          </a:p>
        </p:txBody>
      </p:sp>
      <p:sp>
        <p:nvSpPr>
          <p:cNvPr id="7" name="Text 4"/>
          <p:cNvSpPr/>
          <p:nvPr/>
        </p:nvSpPr>
        <p:spPr>
          <a:xfrm>
            <a:off x="11475720" y="6327648"/>
            <a:ext cx="365760" cy="228600"/>
          </a:xfrm>
          <a:prstGeom prst="rect">
            <a:avLst/>
          </a:prstGeom>
          <a:noFill/>
          <a:ln/>
        </p:spPr>
        <p:txBody>
          <a:bodyPr wrap="square" lIns="0" tIns="0" rIns="0" bIns="0" rtlCol="0" anchor="ctr"/>
          <a:lstStyle/>
          <a:p>
            <a:pPr marL="0" indent="0" algn="r">
              <a:buNone/>
            </a:pPr>
            <a:r>
              <a:rPr lang="en-US" sz="2000" dirty="0">
                <a:solidFill>
                  <a:srgbClr val="5A6470"/>
                </a:solidFill>
              </a:rPr>
              <a:t>6</a:t>
            </a:r>
            <a:endParaRPr lang="en-US" sz="2000" dirty="0"/>
          </a:p>
        </p:txBody>
      </p:sp>
      <p:pic>
        <p:nvPicPr>
          <p:cNvPr id="8" name="Image 1" descr="/mnt/data/work_docx/word/media/image4.png"/>
          <p:cNvPicPr>
            <a:picLocks noChangeAspect="1"/>
          </p:cNvPicPr>
          <p:nvPr/>
        </p:nvPicPr>
        <p:blipFill>
          <a:blip r:embed="rId4"/>
          <a:stretch>
            <a:fillRect/>
          </a:stretch>
        </p:blipFill>
        <p:spPr>
          <a:xfrm>
            <a:off x="777240" y="1351390"/>
            <a:ext cx="5440680" cy="3469419"/>
          </a:xfrm>
          <a:prstGeom prst="rect">
            <a:avLst/>
          </a:prstGeom>
        </p:spPr>
      </p:pic>
      <p:pic>
        <p:nvPicPr>
          <p:cNvPr id="9" name="Image 2" descr="/mnt/data/work_docx/word/media/image8.png"/>
          <p:cNvPicPr>
            <a:picLocks noChangeAspect="1"/>
          </p:cNvPicPr>
          <p:nvPr/>
        </p:nvPicPr>
        <p:blipFill>
          <a:blip r:embed="rId5"/>
          <a:stretch>
            <a:fillRect/>
          </a:stretch>
        </p:blipFill>
        <p:spPr>
          <a:xfrm>
            <a:off x="6400800" y="1651883"/>
            <a:ext cx="5074920" cy="2868433"/>
          </a:xfrm>
          <a:prstGeom prst="rect">
            <a:avLst/>
          </a:prstGeom>
        </p:spPr>
      </p:pic>
      <p:sp>
        <p:nvSpPr>
          <p:cNvPr id="10" name="Text 5"/>
          <p:cNvSpPr/>
          <p:nvPr/>
        </p:nvSpPr>
        <p:spPr>
          <a:xfrm>
            <a:off x="914400" y="5349240"/>
            <a:ext cx="10149840" cy="594360"/>
          </a:xfrm>
          <a:prstGeom prst="rect">
            <a:avLst/>
          </a:prstGeom>
          <a:noFill/>
          <a:ln/>
        </p:spPr>
        <p:txBody>
          <a:bodyPr wrap="square" lIns="254" tIns="254" rIns="254" bIns="254" rtlCol="0" anchor="ctr">
            <a:normAutofit/>
          </a:bodyPr>
          <a:lstStyle/>
          <a:p>
            <a:pPr marL="0" indent="0">
              <a:buNone/>
            </a:pPr>
            <a:r>
              <a:rPr lang="en-US" sz="2100" b="1" dirty="0">
                <a:solidFill>
                  <a:srgbClr val="0B2D4A"/>
                </a:solidFill>
                <a:latin typeface="Calibri" pitchFamily="34" charset="0"/>
                <a:ea typeface="Calibri" pitchFamily="34" charset="-122"/>
                <a:cs typeface="Calibri" pitchFamily="34" charset="-120"/>
              </a:rPr>
              <a:t>Señales principales: mayor humedad y nubosidad elevan el riesgo; menor Sunshine se relaciona con más lluvia; el mes aporta una señal estacional relevante.</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s-CL"/>
          </a:p>
        </p:txBody>
      </p:sp>
      <p:sp>
        <p:nvSpPr>
          <p:cNvPr id="3" name="Shape 1"/>
          <p:cNvSpPr/>
          <p:nvPr/>
        </p:nvSpPr>
        <p:spPr>
          <a:xfrm>
            <a:off x="0" y="0"/>
            <a:ext cx="12191695" cy="164592"/>
          </a:xfrm>
          <a:prstGeom prst="rect">
            <a:avLst/>
          </a:prstGeom>
          <a:solidFill>
            <a:srgbClr val="F6B700"/>
          </a:solidFill>
          <a:ln w="12700">
            <a:solidFill>
              <a:srgbClr val="F6B700"/>
            </a:solidFill>
            <a:prstDash val="solid"/>
          </a:ln>
        </p:spPr>
        <p:txBody>
          <a:bodyPr/>
          <a:lstStyle/>
          <a:p>
            <a:endParaRPr lang="es-CL"/>
          </a:p>
        </p:txBody>
      </p:sp>
      <p:sp>
        <p:nvSpPr>
          <p:cNvPr id="4" name="Shape 2"/>
          <p:cNvSpPr/>
          <p:nvPr/>
        </p:nvSpPr>
        <p:spPr>
          <a:xfrm>
            <a:off x="0" y="164592"/>
            <a:ext cx="12191695" cy="54864"/>
          </a:xfrm>
          <a:prstGeom prst="rect">
            <a:avLst/>
          </a:prstGeom>
          <a:solidFill>
            <a:srgbClr val="0B2D4A"/>
          </a:solidFill>
          <a:ln w="12700">
            <a:solidFill>
              <a:srgbClr val="0B2D4A"/>
            </a:solidFill>
            <a:prstDash val="solid"/>
          </a:ln>
        </p:spPr>
        <p:txBody>
          <a:bodyPr/>
          <a:lstStyle/>
          <a:p>
            <a:endParaRPr lang="es-CL"/>
          </a:p>
        </p:txBody>
      </p:sp>
      <p:pic>
        <p:nvPicPr>
          <p:cNvPr id="5" name="Image 0" descr="/mnt/data/work_docx/word/media/image1.png"/>
          <p:cNvPicPr>
            <a:picLocks noChangeAspect="1"/>
          </p:cNvPicPr>
          <p:nvPr/>
        </p:nvPicPr>
        <p:blipFill>
          <a:blip r:embed="rId3"/>
          <a:stretch>
            <a:fillRect/>
          </a:stretch>
        </p:blipFill>
        <p:spPr>
          <a:xfrm>
            <a:off x="10149840" y="402336"/>
            <a:ext cx="1325880" cy="384048"/>
          </a:xfrm>
          <a:prstGeom prst="rect">
            <a:avLst/>
          </a:prstGeom>
        </p:spPr>
      </p:pic>
      <p:sp>
        <p:nvSpPr>
          <p:cNvPr id="6" name="Text 3"/>
          <p:cNvSpPr/>
          <p:nvPr/>
        </p:nvSpPr>
        <p:spPr>
          <a:xfrm>
            <a:off x="594360" y="502920"/>
            <a:ext cx="8138160" cy="502920"/>
          </a:xfrm>
          <a:prstGeom prst="rect">
            <a:avLst/>
          </a:prstGeom>
          <a:noFill/>
          <a:ln/>
        </p:spPr>
        <p:txBody>
          <a:bodyPr wrap="square" lIns="254" tIns="254" rIns="254" bIns="254" rtlCol="0" anchor="ctr">
            <a:normAutofit/>
          </a:bodyPr>
          <a:lstStyle/>
          <a:p>
            <a:pPr marL="0" indent="0">
              <a:buNone/>
            </a:pPr>
            <a:r>
              <a:rPr lang="en-US" sz="2800" b="1" dirty="0">
                <a:solidFill>
                  <a:srgbClr val="0B2D4A"/>
                </a:solidFill>
                <a:latin typeface="Calibri" pitchFamily="34" charset="0"/>
                <a:ea typeface="Calibri" pitchFamily="34" charset="-122"/>
                <a:cs typeface="Calibri" pitchFamily="34" charset="-120"/>
              </a:rPr>
              <a:t>6. Modelos predictivos</a:t>
            </a:r>
            <a:endParaRPr lang="en-US" sz="2800" dirty="0"/>
          </a:p>
        </p:txBody>
      </p:sp>
      <p:sp>
        <p:nvSpPr>
          <p:cNvPr id="7" name="Text 4"/>
          <p:cNvSpPr/>
          <p:nvPr/>
        </p:nvSpPr>
        <p:spPr>
          <a:xfrm>
            <a:off x="11475720" y="6327648"/>
            <a:ext cx="365760" cy="228600"/>
          </a:xfrm>
          <a:prstGeom prst="rect">
            <a:avLst/>
          </a:prstGeom>
          <a:noFill/>
          <a:ln/>
        </p:spPr>
        <p:txBody>
          <a:bodyPr wrap="square" lIns="0" tIns="0" rIns="0" bIns="0" rtlCol="0" anchor="ctr"/>
          <a:lstStyle/>
          <a:p>
            <a:pPr marL="0" indent="0" algn="r">
              <a:buNone/>
            </a:pPr>
            <a:r>
              <a:rPr lang="en-US" sz="2000" dirty="0">
                <a:solidFill>
                  <a:srgbClr val="5A6470"/>
                </a:solidFill>
              </a:rPr>
              <a:t>7</a:t>
            </a:r>
            <a:endParaRPr lang="en-US" sz="2000" dirty="0"/>
          </a:p>
        </p:txBody>
      </p:sp>
      <p:sp>
        <p:nvSpPr>
          <p:cNvPr id="8" name="Text 5"/>
          <p:cNvSpPr/>
          <p:nvPr/>
        </p:nvSpPr>
        <p:spPr>
          <a:xfrm>
            <a:off x="685800" y="1143000"/>
            <a:ext cx="5486400" cy="777240"/>
          </a:xfrm>
          <a:prstGeom prst="rect">
            <a:avLst/>
          </a:prstGeom>
          <a:noFill/>
          <a:ln/>
        </p:spPr>
        <p:txBody>
          <a:bodyPr wrap="square" lIns="254" tIns="254" rIns="254" bIns="254" rtlCol="0" anchor="ctr">
            <a:normAutofit/>
          </a:bodyPr>
          <a:lstStyle/>
          <a:p>
            <a:pPr marL="0" indent="0">
              <a:buNone/>
            </a:pPr>
            <a:r>
              <a:rPr lang="en-US" sz="2200" dirty="0">
                <a:solidFill>
                  <a:srgbClr val="1F1F1F"/>
                </a:solidFill>
                <a:latin typeface="Calibri" pitchFamily="34" charset="0"/>
                <a:ea typeface="Calibri" pitchFamily="34" charset="-122"/>
                <a:cs typeface="Calibri" pitchFamily="34" charset="-120"/>
              </a:rPr>
              <a:t>Se comparó un baseline, regresión logística y árbol de decisión. La regresión logística obtuvo el mejor equilibrio general.</a:t>
            </a:r>
            <a:endParaRPr lang="en-US" sz="2200" dirty="0"/>
          </a:p>
        </p:txBody>
      </p:sp>
      <p:pic>
        <p:nvPicPr>
          <p:cNvPr id="9" name="Image 1" descr="/mnt/data/work_docx/word/media/image5.png"/>
          <p:cNvPicPr>
            <a:picLocks noChangeAspect="1"/>
          </p:cNvPicPr>
          <p:nvPr/>
        </p:nvPicPr>
        <p:blipFill>
          <a:blip r:embed="rId4"/>
          <a:stretch>
            <a:fillRect/>
          </a:stretch>
        </p:blipFill>
        <p:spPr>
          <a:xfrm>
            <a:off x="6355080" y="1307071"/>
            <a:ext cx="5074920" cy="2826538"/>
          </a:xfrm>
          <a:prstGeom prst="rect">
            <a:avLst/>
          </a:prstGeom>
        </p:spPr>
      </p:pic>
      <p:sp>
        <p:nvSpPr>
          <p:cNvPr id="10" name="Shape 6"/>
          <p:cNvSpPr/>
          <p:nvPr/>
        </p:nvSpPr>
        <p:spPr>
          <a:xfrm>
            <a:off x="822960" y="2743200"/>
            <a:ext cx="1554480" cy="1143000"/>
          </a:xfrm>
          <a:prstGeom prst="roundRect">
            <a:avLst>
              <a:gd name="adj" fmla="val 4000"/>
            </a:avLst>
          </a:prstGeom>
          <a:solidFill>
            <a:srgbClr val="0B2D4A"/>
          </a:solidFill>
          <a:ln w="12700">
            <a:solidFill>
              <a:srgbClr val="FFFFFF">
                <a:alpha val="0"/>
              </a:srgbClr>
            </a:solidFill>
            <a:prstDash val="solid"/>
          </a:ln>
        </p:spPr>
        <p:txBody>
          <a:bodyPr/>
          <a:lstStyle/>
          <a:p>
            <a:endParaRPr lang="es-CL"/>
          </a:p>
        </p:txBody>
      </p:sp>
      <p:sp>
        <p:nvSpPr>
          <p:cNvPr id="11" name="Text 7"/>
          <p:cNvSpPr/>
          <p:nvPr/>
        </p:nvSpPr>
        <p:spPr>
          <a:xfrm>
            <a:off x="914400" y="2907792"/>
            <a:ext cx="1371600" cy="347472"/>
          </a:xfrm>
          <a:prstGeom prst="rect">
            <a:avLst/>
          </a:prstGeom>
          <a:noFill/>
          <a:ln/>
        </p:spPr>
        <p:txBody>
          <a:bodyPr wrap="square" lIns="0" tIns="0" rIns="0" bIns="0" rtlCol="0" anchor="ctr"/>
          <a:lstStyle/>
          <a:p>
            <a:pPr marL="0" indent="0" algn="ctr">
              <a:buNone/>
            </a:pPr>
            <a:r>
              <a:rPr lang="en-US" sz="2800" b="1" dirty="0">
                <a:solidFill>
                  <a:srgbClr val="FFFFFF"/>
                </a:solidFill>
              </a:rPr>
              <a:t>0,632</a:t>
            </a:r>
            <a:endParaRPr lang="en-US" sz="2800" dirty="0"/>
          </a:p>
        </p:txBody>
      </p:sp>
      <p:sp>
        <p:nvSpPr>
          <p:cNvPr id="12" name="Text 8"/>
          <p:cNvSpPr/>
          <p:nvPr/>
        </p:nvSpPr>
        <p:spPr>
          <a:xfrm>
            <a:off x="914400" y="3337560"/>
            <a:ext cx="1371600" cy="274320"/>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rPr>
              <a:t>F1</a:t>
            </a:r>
            <a:endParaRPr lang="en-US" sz="2000" dirty="0"/>
          </a:p>
        </p:txBody>
      </p:sp>
      <p:sp>
        <p:nvSpPr>
          <p:cNvPr id="13" name="Shape 9"/>
          <p:cNvSpPr/>
          <p:nvPr/>
        </p:nvSpPr>
        <p:spPr>
          <a:xfrm>
            <a:off x="2697480" y="2743200"/>
            <a:ext cx="1554480" cy="1143000"/>
          </a:xfrm>
          <a:prstGeom prst="roundRect">
            <a:avLst>
              <a:gd name="adj" fmla="val 4000"/>
            </a:avLst>
          </a:prstGeom>
          <a:solidFill>
            <a:srgbClr val="1F5A85"/>
          </a:solidFill>
          <a:ln w="12700">
            <a:solidFill>
              <a:srgbClr val="FFFFFF">
                <a:alpha val="0"/>
              </a:srgbClr>
            </a:solidFill>
            <a:prstDash val="solid"/>
          </a:ln>
        </p:spPr>
        <p:txBody>
          <a:bodyPr/>
          <a:lstStyle/>
          <a:p>
            <a:endParaRPr lang="es-CL"/>
          </a:p>
        </p:txBody>
      </p:sp>
      <p:sp>
        <p:nvSpPr>
          <p:cNvPr id="14" name="Text 10"/>
          <p:cNvSpPr/>
          <p:nvPr/>
        </p:nvSpPr>
        <p:spPr>
          <a:xfrm>
            <a:off x="2788920" y="2907792"/>
            <a:ext cx="1371600" cy="347472"/>
          </a:xfrm>
          <a:prstGeom prst="rect">
            <a:avLst/>
          </a:prstGeom>
          <a:noFill/>
          <a:ln/>
        </p:spPr>
        <p:txBody>
          <a:bodyPr wrap="square" lIns="0" tIns="0" rIns="0" bIns="0" rtlCol="0" anchor="ctr"/>
          <a:lstStyle/>
          <a:p>
            <a:pPr marL="0" indent="0" algn="ctr">
              <a:buNone/>
            </a:pPr>
            <a:r>
              <a:rPr lang="en-US" sz="2800" b="1" dirty="0">
                <a:solidFill>
                  <a:srgbClr val="FFFFFF"/>
                </a:solidFill>
              </a:rPr>
              <a:t>0,873</a:t>
            </a:r>
            <a:endParaRPr lang="en-US" sz="2800" dirty="0"/>
          </a:p>
        </p:txBody>
      </p:sp>
      <p:sp>
        <p:nvSpPr>
          <p:cNvPr id="15" name="Text 11"/>
          <p:cNvSpPr/>
          <p:nvPr/>
        </p:nvSpPr>
        <p:spPr>
          <a:xfrm>
            <a:off x="2788920" y="3337560"/>
            <a:ext cx="1371600" cy="274320"/>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rPr>
              <a:t>ROC-AUC</a:t>
            </a:r>
            <a:endParaRPr lang="en-US" sz="2000" dirty="0"/>
          </a:p>
        </p:txBody>
      </p:sp>
      <p:sp>
        <p:nvSpPr>
          <p:cNvPr id="16" name="Shape 12"/>
          <p:cNvSpPr/>
          <p:nvPr/>
        </p:nvSpPr>
        <p:spPr>
          <a:xfrm>
            <a:off x="4572000" y="2743200"/>
            <a:ext cx="1554480" cy="1143000"/>
          </a:xfrm>
          <a:prstGeom prst="roundRect">
            <a:avLst>
              <a:gd name="adj" fmla="val 4000"/>
            </a:avLst>
          </a:prstGeom>
          <a:solidFill>
            <a:srgbClr val="F6B700"/>
          </a:solidFill>
          <a:ln w="12700">
            <a:solidFill>
              <a:srgbClr val="FFFFFF">
                <a:alpha val="0"/>
              </a:srgbClr>
            </a:solidFill>
            <a:prstDash val="solid"/>
          </a:ln>
        </p:spPr>
        <p:txBody>
          <a:bodyPr/>
          <a:lstStyle/>
          <a:p>
            <a:endParaRPr lang="es-CL"/>
          </a:p>
        </p:txBody>
      </p:sp>
      <p:sp>
        <p:nvSpPr>
          <p:cNvPr id="17" name="Text 13"/>
          <p:cNvSpPr/>
          <p:nvPr/>
        </p:nvSpPr>
        <p:spPr>
          <a:xfrm>
            <a:off x="4663440" y="2907792"/>
            <a:ext cx="1371600" cy="347472"/>
          </a:xfrm>
          <a:prstGeom prst="rect">
            <a:avLst/>
          </a:prstGeom>
          <a:noFill/>
          <a:ln/>
        </p:spPr>
        <p:txBody>
          <a:bodyPr wrap="square" lIns="0" tIns="0" rIns="0" bIns="0" rtlCol="0" anchor="ctr"/>
          <a:lstStyle/>
          <a:p>
            <a:pPr marL="0" indent="0" algn="ctr">
              <a:buNone/>
            </a:pPr>
            <a:r>
              <a:rPr lang="en-US" sz="2800" b="1" dirty="0">
                <a:solidFill>
                  <a:srgbClr val="0B2D4A"/>
                </a:solidFill>
              </a:rPr>
              <a:t>0,780</a:t>
            </a:r>
            <a:endParaRPr lang="en-US" sz="2800" dirty="0"/>
          </a:p>
        </p:txBody>
      </p:sp>
      <p:sp>
        <p:nvSpPr>
          <p:cNvPr id="18" name="Text 14"/>
          <p:cNvSpPr/>
          <p:nvPr/>
        </p:nvSpPr>
        <p:spPr>
          <a:xfrm>
            <a:off x="4663440" y="3337560"/>
            <a:ext cx="1371600" cy="274320"/>
          </a:xfrm>
          <a:prstGeom prst="rect">
            <a:avLst/>
          </a:prstGeom>
          <a:noFill/>
          <a:ln/>
        </p:spPr>
        <p:txBody>
          <a:bodyPr wrap="square" lIns="0" tIns="0" rIns="0" bIns="0" rtlCol="0" anchor="ctr">
            <a:normAutofit/>
          </a:bodyPr>
          <a:lstStyle/>
          <a:p>
            <a:pPr marL="0" indent="0" algn="ctr">
              <a:buNone/>
            </a:pPr>
            <a:r>
              <a:rPr lang="en-US" sz="2000" b="1" dirty="0">
                <a:solidFill>
                  <a:srgbClr val="0B2D4A"/>
                </a:solidFill>
              </a:rPr>
              <a:t>Recall lluvia</a:t>
            </a:r>
            <a:endParaRPr lang="en-US" sz="2000" dirty="0"/>
          </a:p>
        </p:txBody>
      </p:sp>
      <p:sp>
        <p:nvSpPr>
          <p:cNvPr id="19" name="Text 15"/>
          <p:cNvSpPr/>
          <p:nvPr/>
        </p:nvSpPr>
        <p:spPr>
          <a:xfrm>
            <a:off x="868680" y="4617720"/>
            <a:ext cx="5394960" cy="822960"/>
          </a:xfrm>
          <a:prstGeom prst="rect">
            <a:avLst/>
          </a:prstGeom>
          <a:noFill/>
          <a:ln/>
        </p:spPr>
        <p:txBody>
          <a:bodyPr wrap="square" lIns="254" tIns="254" rIns="254" bIns="254" rtlCol="0" anchor="ctr">
            <a:normAutofit/>
          </a:bodyPr>
          <a:lstStyle/>
          <a:p>
            <a:pPr marL="0" indent="0">
              <a:buNone/>
            </a:pPr>
            <a:r>
              <a:rPr lang="en-US" sz="2000" dirty="0">
                <a:solidFill>
                  <a:srgbClr val="1F1F1F"/>
                </a:solidFill>
                <a:latin typeface="Calibri" pitchFamily="34" charset="0"/>
                <a:ea typeface="Calibri" pitchFamily="34" charset="-122"/>
                <a:cs typeface="Calibri" pitchFamily="34" charset="-120"/>
              </a:rPr>
              <a:t>El baseline obtiene accuracy aceptable, pero no detecta días lluviosos. Por eso se priorizaron F1, recall y ROC-AUC.</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s-CL"/>
          </a:p>
        </p:txBody>
      </p:sp>
      <p:sp>
        <p:nvSpPr>
          <p:cNvPr id="3" name="Shape 1"/>
          <p:cNvSpPr/>
          <p:nvPr/>
        </p:nvSpPr>
        <p:spPr>
          <a:xfrm>
            <a:off x="0" y="0"/>
            <a:ext cx="12191695" cy="164592"/>
          </a:xfrm>
          <a:prstGeom prst="rect">
            <a:avLst/>
          </a:prstGeom>
          <a:solidFill>
            <a:srgbClr val="F6B700"/>
          </a:solidFill>
          <a:ln w="12700">
            <a:solidFill>
              <a:srgbClr val="F6B700"/>
            </a:solidFill>
            <a:prstDash val="solid"/>
          </a:ln>
        </p:spPr>
        <p:txBody>
          <a:bodyPr/>
          <a:lstStyle/>
          <a:p>
            <a:endParaRPr lang="es-CL"/>
          </a:p>
        </p:txBody>
      </p:sp>
      <p:sp>
        <p:nvSpPr>
          <p:cNvPr id="4" name="Shape 2"/>
          <p:cNvSpPr/>
          <p:nvPr/>
        </p:nvSpPr>
        <p:spPr>
          <a:xfrm>
            <a:off x="0" y="164592"/>
            <a:ext cx="12191695" cy="54864"/>
          </a:xfrm>
          <a:prstGeom prst="rect">
            <a:avLst/>
          </a:prstGeom>
          <a:solidFill>
            <a:srgbClr val="0B2D4A"/>
          </a:solidFill>
          <a:ln w="12700">
            <a:solidFill>
              <a:srgbClr val="0B2D4A"/>
            </a:solidFill>
            <a:prstDash val="solid"/>
          </a:ln>
        </p:spPr>
        <p:txBody>
          <a:bodyPr/>
          <a:lstStyle/>
          <a:p>
            <a:endParaRPr lang="es-CL"/>
          </a:p>
        </p:txBody>
      </p:sp>
      <p:pic>
        <p:nvPicPr>
          <p:cNvPr id="5" name="Image 0" descr="/mnt/data/work_docx/word/media/image1.png"/>
          <p:cNvPicPr>
            <a:picLocks noChangeAspect="1"/>
          </p:cNvPicPr>
          <p:nvPr/>
        </p:nvPicPr>
        <p:blipFill>
          <a:blip r:embed="rId3"/>
          <a:stretch>
            <a:fillRect/>
          </a:stretch>
        </p:blipFill>
        <p:spPr>
          <a:xfrm>
            <a:off x="10149840" y="402336"/>
            <a:ext cx="1325880" cy="384048"/>
          </a:xfrm>
          <a:prstGeom prst="rect">
            <a:avLst/>
          </a:prstGeom>
        </p:spPr>
      </p:pic>
      <p:sp>
        <p:nvSpPr>
          <p:cNvPr id="6" name="Text 3"/>
          <p:cNvSpPr/>
          <p:nvPr/>
        </p:nvSpPr>
        <p:spPr>
          <a:xfrm>
            <a:off x="594360" y="502920"/>
            <a:ext cx="8138160" cy="502920"/>
          </a:xfrm>
          <a:prstGeom prst="rect">
            <a:avLst/>
          </a:prstGeom>
          <a:noFill/>
          <a:ln/>
        </p:spPr>
        <p:txBody>
          <a:bodyPr wrap="square" lIns="254" tIns="254" rIns="254" bIns="254" rtlCol="0" anchor="ctr">
            <a:normAutofit/>
          </a:bodyPr>
          <a:lstStyle/>
          <a:p>
            <a:pPr marL="0" indent="0">
              <a:buNone/>
            </a:pPr>
            <a:r>
              <a:rPr lang="en-US" sz="2800" b="1" dirty="0">
                <a:solidFill>
                  <a:srgbClr val="0B2D4A"/>
                </a:solidFill>
                <a:latin typeface="Calibri" pitchFamily="34" charset="0"/>
                <a:ea typeface="Calibri" pitchFamily="34" charset="-122"/>
                <a:cs typeface="Calibri" pitchFamily="34" charset="-120"/>
              </a:rPr>
              <a:t>7. Evaluación del modelo seleccionado</a:t>
            </a:r>
            <a:endParaRPr lang="en-US" sz="2800" dirty="0"/>
          </a:p>
        </p:txBody>
      </p:sp>
      <p:sp>
        <p:nvSpPr>
          <p:cNvPr id="7" name="Text 4"/>
          <p:cNvSpPr/>
          <p:nvPr/>
        </p:nvSpPr>
        <p:spPr>
          <a:xfrm>
            <a:off x="11475720" y="6327648"/>
            <a:ext cx="365760" cy="228600"/>
          </a:xfrm>
          <a:prstGeom prst="rect">
            <a:avLst/>
          </a:prstGeom>
          <a:noFill/>
          <a:ln/>
        </p:spPr>
        <p:txBody>
          <a:bodyPr wrap="square" lIns="0" tIns="0" rIns="0" bIns="0" rtlCol="0" anchor="ctr"/>
          <a:lstStyle/>
          <a:p>
            <a:pPr marL="0" indent="0" algn="r">
              <a:buNone/>
            </a:pPr>
            <a:r>
              <a:rPr lang="en-US" sz="2000" dirty="0">
                <a:solidFill>
                  <a:srgbClr val="5A6470"/>
                </a:solidFill>
              </a:rPr>
              <a:t>8</a:t>
            </a:r>
            <a:endParaRPr lang="en-US" sz="2000" dirty="0"/>
          </a:p>
        </p:txBody>
      </p:sp>
      <p:pic>
        <p:nvPicPr>
          <p:cNvPr id="8" name="Image 1" descr="/mnt/data/work_docx/word/media/image6.png"/>
          <p:cNvPicPr>
            <a:picLocks noChangeAspect="1"/>
          </p:cNvPicPr>
          <p:nvPr/>
        </p:nvPicPr>
        <p:blipFill>
          <a:blip r:embed="rId4"/>
          <a:stretch>
            <a:fillRect/>
          </a:stretch>
        </p:blipFill>
        <p:spPr>
          <a:xfrm>
            <a:off x="777240" y="1333410"/>
            <a:ext cx="4846320" cy="3779700"/>
          </a:xfrm>
          <a:prstGeom prst="rect">
            <a:avLst/>
          </a:prstGeom>
        </p:spPr>
      </p:pic>
      <p:sp>
        <p:nvSpPr>
          <p:cNvPr id="9" name="Text 5"/>
          <p:cNvSpPr/>
          <p:nvPr/>
        </p:nvSpPr>
        <p:spPr>
          <a:xfrm>
            <a:off x="6080760" y="1417320"/>
            <a:ext cx="5303520" cy="3383280"/>
          </a:xfrm>
          <a:prstGeom prst="rect">
            <a:avLst/>
          </a:prstGeom>
          <a:noFill/>
          <a:ln/>
        </p:spPr>
        <p:txBody>
          <a:bodyPr wrap="square" lIns="254" tIns="254" rIns="254" bIns="254" rtlCol="0" anchor="ctr">
            <a:normAutofit/>
          </a:bodyPr>
          <a:lstStyle/>
          <a:p>
            <a:pPr marL="0" indent="0">
              <a:buNone/>
            </a:pPr>
            <a:r>
              <a:rPr lang="en-US" sz="2200" dirty="0">
                <a:solidFill>
                  <a:srgbClr val="1F1F1F"/>
                </a:solidFill>
                <a:latin typeface="Calibri" pitchFamily="34" charset="0"/>
                <a:ea typeface="Calibri" pitchFamily="34" charset="-122"/>
                <a:cs typeface="Calibri" pitchFamily="34" charset="-120"/>
              </a:rPr>
              <a:t>Regresión logística detecta 4.972 de 6.375 días lluviosos en el conjunto de prueba.</a:t>
            </a:r>
            <a:endParaRPr lang="en-US" sz="2200" dirty="0"/>
          </a:p>
          <a:p>
            <a:pPr marL="0" indent="0">
              <a:buNone/>
            </a:pPr>
            <a:endParaRPr lang="en-US" sz="2200" dirty="0"/>
          </a:p>
          <a:p>
            <a:pPr marL="0" indent="0">
              <a:buNone/>
            </a:pPr>
            <a:r>
              <a:rPr lang="en-US" sz="2200" dirty="0">
                <a:solidFill>
                  <a:srgbClr val="1F1F1F"/>
                </a:solidFill>
                <a:latin typeface="Calibri" pitchFamily="34" charset="0"/>
                <a:ea typeface="Calibri" pitchFamily="34" charset="-122"/>
                <a:cs typeface="Calibri" pitchFamily="34" charset="-120"/>
              </a:rPr>
              <a:t>El recall alto es valioso cuando no anticipar lluvia puede generar costos operativos. La precision todavía muestra falsas alertas, por lo que el umbral se puede ajustar según el costo del negocio.</a:t>
            </a:r>
            <a:endParaRPr lang="en-US" sz="2200" dirty="0"/>
          </a:p>
        </p:txBody>
      </p:sp>
      <p:sp>
        <p:nvSpPr>
          <p:cNvPr id="10" name="Shape 6"/>
          <p:cNvSpPr/>
          <p:nvPr/>
        </p:nvSpPr>
        <p:spPr>
          <a:xfrm>
            <a:off x="6080760" y="5166360"/>
            <a:ext cx="5074920" cy="658368"/>
          </a:xfrm>
          <a:prstGeom prst="roundRect">
            <a:avLst>
              <a:gd name="adj" fmla="val 6944"/>
            </a:avLst>
          </a:prstGeom>
          <a:solidFill>
            <a:srgbClr val="F4F8FB"/>
          </a:solidFill>
          <a:ln w="12700">
            <a:solidFill>
              <a:srgbClr val="DDEAF4"/>
            </a:solidFill>
            <a:prstDash val="solid"/>
          </a:ln>
        </p:spPr>
        <p:txBody>
          <a:bodyPr/>
          <a:lstStyle/>
          <a:p>
            <a:endParaRPr lang="es-CL"/>
          </a:p>
        </p:txBody>
      </p:sp>
      <p:sp>
        <p:nvSpPr>
          <p:cNvPr id="11" name="Text 7"/>
          <p:cNvSpPr/>
          <p:nvPr/>
        </p:nvSpPr>
        <p:spPr>
          <a:xfrm>
            <a:off x="6309360" y="5340096"/>
            <a:ext cx="4572000" cy="320040"/>
          </a:xfrm>
          <a:prstGeom prst="rect">
            <a:avLst/>
          </a:prstGeom>
          <a:noFill/>
          <a:ln/>
        </p:spPr>
        <p:txBody>
          <a:bodyPr wrap="square" lIns="0" tIns="0" rIns="0" bIns="0" rtlCol="0" anchor="ctr"/>
          <a:lstStyle/>
          <a:p>
            <a:pPr marL="0" indent="0">
              <a:buNone/>
            </a:pPr>
            <a:r>
              <a:rPr lang="en-US" sz="2000" b="1" dirty="0">
                <a:solidFill>
                  <a:srgbClr val="0B2D4A"/>
                </a:solidFill>
              </a:rPr>
              <a:t>Decisión: usarlo como apoyo preventivo y monitorearlo en el tiempo.</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s-CL"/>
          </a:p>
        </p:txBody>
      </p:sp>
      <p:sp>
        <p:nvSpPr>
          <p:cNvPr id="3" name="Shape 1"/>
          <p:cNvSpPr/>
          <p:nvPr/>
        </p:nvSpPr>
        <p:spPr>
          <a:xfrm>
            <a:off x="0" y="0"/>
            <a:ext cx="12191695" cy="164592"/>
          </a:xfrm>
          <a:prstGeom prst="rect">
            <a:avLst/>
          </a:prstGeom>
          <a:solidFill>
            <a:srgbClr val="F6B700"/>
          </a:solidFill>
          <a:ln w="12700">
            <a:solidFill>
              <a:srgbClr val="F6B700"/>
            </a:solidFill>
            <a:prstDash val="solid"/>
          </a:ln>
        </p:spPr>
        <p:txBody>
          <a:bodyPr/>
          <a:lstStyle/>
          <a:p>
            <a:endParaRPr lang="es-CL"/>
          </a:p>
        </p:txBody>
      </p:sp>
      <p:sp>
        <p:nvSpPr>
          <p:cNvPr id="4" name="Shape 2"/>
          <p:cNvSpPr/>
          <p:nvPr/>
        </p:nvSpPr>
        <p:spPr>
          <a:xfrm>
            <a:off x="0" y="164592"/>
            <a:ext cx="12191695" cy="54864"/>
          </a:xfrm>
          <a:prstGeom prst="rect">
            <a:avLst/>
          </a:prstGeom>
          <a:solidFill>
            <a:srgbClr val="0B2D4A"/>
          </a:solidFill>
          <a:ln w="12700">
            <a:solidFill>
              <a:srgbClr val="0B2D4A"/>
            </a:solidFill>
            <a:prstDash val="solid"/>
          </a:ln>
        </p:spPr>
        <p:txBody>
          <a:bodyPr/>
          <a:lstStyle/>
          <a:p>
            <a:endParaRPr lang="es-CL"/>
          </a:p>
        </p:txBody>
      </p:sp>
      <p:pic>
        <p:nvPicPr>
          <p:cNvPr id="5" name="Image 0" descr="/mnt/data/work_docx/word/media/image1.png"/>
          <p:cNvPicPr>
            <a:picLocks noChangeAspect="1"/>
          </p:cNvPicPr>
          <p:nvPr/>
        </p:nvPicPr>
        <p:blipFill>
          <a:blip r:embed="rId3"/>
          <a:stretch>
            <a:fillRect/>
          </a:stretch>
        </p:blipFill>
        <p:spPr>
          <a:xfrm>
            <a:off x="10149840" y="402336"/>
            <a:ext cx="1325880" cy="384048"/>
          </a:xfrm>
          <a:prstGeom prst="rect">
            <a:avLst/>
          </a:prstGeom>
        </p:spPr>
      </p:pic>
      <p:sp>
        <p:nvSpPr>
          <p:cNvPr id="6" name="Text 3"/>
          <p:cNvSpPr/>
          <p:nvPr/>
        </p:nvSpPr>
        <p:spPr>
          <a:xfrm>
            <a:off x="594360" y="502920"/>
            <a:ext cx="8138160" cy="502920"/>
          </a:xfrm>
          <a:prstGeom prst="rect">
            <a:avLst/>
          </a:prstGeom>
          <a:noFill/>
          <a:ln/>
        </p:spPr>
        <p:txBody>
          <a:bodyPr wrap="square" lIns="254" tIns="254" rIns="254" bIns="254" rtlCol="0" anchor="ctr">
            <a:normAutofit/>
          </a:bodyPr>
          <a:lstStyle/>
          <a:p>
            <a:pPr marL="0" indent="0">
              <a:buNone/>
            </a:pPr>
            <a:r>
              <a:rPr lang="en-US" sz="2800" b="1" dirty="0">
                <a:solidFill>
                  <a:srgbClr val="0B2D4A"/>
                </a:solidFill>
                <a:latin typeface="Calibri" pitchFamily="34" charset="0"/>
                <a:ea typeface="Calibri" pitchFamily="34" charset="-122"/>
                <a:cs typeface="Calibri" pitchFamily="34" charset="-120"/>
              </a:rPr>
              <a:t>8. Clustering e insights de decisión</a:t>
            </a:r>
            <a:endParaRPr lang="en-US" sz="2800" dirty="0"/>
          </a:p>
        </p:txBody>
      </p:sp>
      <p:sp>
        <p:nvSpPr>
          <p:cNvPr id="7" name="Text 4"/>
          <p:cNvSpPr/>
          <p:nvPr/>
        </p:nvSpPr>
        <p:spPr>
          <a:xfrm>
            <a:off x="11475720" y="6327648"/>
            <a:ext cx="365760" cy="228600"/>
          </a:xfrm>
          <a:prstGeom prst="rect">
            <a:avLst/>
          </a:prstGeom>
          <a:noFill/>
          <a:ln/>
        </p:spPr>
        <p:txBody>
          <a:bodyPr wrap="square" lIns="0" tIns="0" rIns="0" bIns="0" rtlCol="0" anchor="ctr"/>
          <a:lstStyle/>
          <a:p>
            <a:pPr marL="0" indent="0" algn="r">
              <a:buNone/>
            </a:pPr>
            <a:r>
              <a:rPr lang="en-US" sz="2000" dirty="0">
                <a:solidFill>
                  <a:srgbClr val="5A6470"/>
                </a:solidFill>
              </a:rPr>
              <a:t>9</a:t>
            </a:r>
            <a:endParaRPr lang="en-US" sz="2000" dirty="0"/>
          </a:p>
        </p:txBody>
      </p:sp>
      <p:pic>
        <p:nvPicPr>
          <p:cNvPr id="8" name="Image 1" descr="/mnt/data/work_docx/word/media/image7.png"/>
          <p:cNvPicPr>
            <a:picLocks noChangeAspect="1"/>
          </p:cNvPicPr>
          <p:nvPr/>
        </p:nvPicPr>
        <p:blipFill>
          <a:blip r:embed="rId4"/>
          <a:stretch>
            <a:fillRect/>
          </a:stretch>
        </p:blipFill>
        <p:spPr>
          <a:xfrm>
            <a:off x="685800" y="1151945"/>
            <a:ext cx="5349240" cy="3411110"/>
          </a:xfrm>
          <a:prstGeom prst="rect">
            <a:avLst/>
          </a:prstGeom>
        </p:spPr>
      </p:pic>
      <p:pic>
        <p:nvPicPr>
          <p:cNvPr id="9" name="Image 2" descr="/mnt/data/work_docx/word/media/image9.png"/>
          <p:cNvPicPr>
            <a:picLocks noChangeAspect="1"/>
          </p:cNvPicPr>
          <p:nvPr/>
        </p:nvPicPr>
        <p:blipFill>
          <a:blip r:embed="rId5"/>
          <a:stretch>
            <a:fillRect/>
          </a:stretch>
        </p:blipFill>
        <p:spPr>
          <a:xfrm>
            <a:off x="6355080" y="1297719"/>
            <a:ext cx="4892040" cy="3119562"/>
          </a:xfrm>
          <a:prstGeom prst="rect">
            <a:avLst/>
          </a:prstGeom>
        </p:spPr>
      </p:pic>
      <p:sp>
        <p:nvSpPr>
          <p:cNvPr id="10" name="Text 5"/>
          <p:cNvSpPr/>
          <p:nvPr/>
        </p:nvSpPr>
        <p:spPr>
          <a:xfrm>
            <a:off x="868680" y="5074920"/>
            <a:ext cx="10241280" cy="822960"/>
          </a:xfrm>
          <a:prstGeom prst="rect">
            <a:avLst/>
          </a:prstGeom>
          <a:noFill/>
          <a:ln/>
        </p:spPr>
        <p:txBody>
          <a:bodyPr wrap="square" lIns="254" tIns="254" rIns="254" bIns="254" rtlCol="0" anchor="ctr">
            <a:normAutofit/>
          </a:bodyPr>
          <a:lstStyle/>
          <a:p>
            <a:pPr marL="0" indent="0">
              <a:buNone/>
            </a:pPr>
            <a:r>
              <a:rPr lang="en-US" sz="2000" dirty="0">
                <a:solidFill>
                  <a:srgbClr val="1F1F1F"/>
                </a:solidFill>
                <a:latin typeface="Calibri" pitchFamily="34" charset="0"/>
                <a:ea typeface="Calibri" pitchFamily="34" charset="-122"/>
                <a:cs typeface="Calibri" pitchFamily="34" charset="-120"/>
              </a:rPr>
              <a:t>Cluster 0: alto riesgo, mayor humedad, más lluvia registrada y mayor nubosidad.</a:t>
            </a:r>
            <a:endParaRPr lang="en-US" sz="2000" dirty="0"/>
          </a:p>
          <a:p>
            <a:pPr marL="0" indent="0">
              <a:buNone/>
            </a:pPr>
            <a:r>
              <a:rPr lang="en-US" sz="2000" dirty="0">
                <a:solidFill>
                  <a:srgbClr val="1F1F1F"/>
                </a:solidFill>
                <a:latin typeface="Calibri" pitchFamily="34" charset="0"/>
                <a:ea typeface="Calibri" pitchFamily="34" charset="-122"/>
                <a:cs typeface="Calibri" pitchFamily="34" charset="-120"/>
              </a:rPr>
              <a:t>Cluster 1: perfil más seco y de bajo riesgo.</a:t>
            </a:r>
            <a:endParaRPr lang="en-US" sz="2000" dirty="0"/>
          </a:p>
          <a:p>
            <a:pPr marL="0" indent="0">
              <a:buNone/>
            </a:pPr>
            <a:r>
              <a:rPr lang="en-US" sz="2000" dirty="0">
                <a:solidFill>
                  <a:srgbClr val="1F1F1F"/>
                </a:solidFill>
                <a:latin typeface="Calibri" pitchFamily="34" charset="0"/>
                <a:ea typeface="Calibri" pitchFamily="34" charset="-122"/>
                <a:cs typeface="Calibri" pitchFamily="34" charset="-120"/>
              </a:rPr>
              <a:t>Ubicaciones como Portland, Walpole y Cairns concentran mayor frecuencia histórica de lluvia.</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2D4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2D4A"/>
          </a:solidFill>
          <a:ln w="12700">
            <a:solidFill>
              <a:srgbClr val="0B2D4A"/>
            </a:solidFill>
            <a:prstDash val="solid"/>
          </a:ln>
        </p:spPr>
        <p:txBody>
          <a:bodyPr/>
          <a:lstStyle/>
          <a:p>
            <a:endParaRPr lang="es-CL"/>
          </a:p>
        </p:txBody>
      </p:sp>
      <p:sp>
        <p:nvSpPr>
          <p:cNvPr id="3" name="Shape 1"/>
          <p:cNvSpPr/>
          <p:nvPr/>
        </p:nvSpPr>
        <p:spPr>
          <a:xfrm>
            <a:off x="0" y="0"/>
            <a:ext cx="12191695" cy="219456"/>
          </a:xfrm>
          <a:prstGeom prst="rect">
            <a:avLst/>
          </a:prstGeom>
          <a:solidFill>
            <a:srgbClr val="F6B700"/>
          </a:solidFill>
          <a:ln w="12700">
            <a:solidFill>
              <a:srgbClr val="F6B700"/>
            </a:solidFill>
            <a:prstDash val="solid"/>
          </a:ln>
        </p:spPr>
        <p:txBody>
          <a:bodyPr/>
          <a:lstStyle/>
          <a:p>
            <a:endParaRPr lang="es-CL"/>
          </a:p>
        </p:txBody>
      </p:sp>
      <p:sp>
        <p:nvSpPr>
          <p:cNvPr id="4" name="Shape 2"/>
          <p:cNvSpPr/>
          <p:nvPr/>
        </p:nvSpPr>
        <p:spPr>
          <a:xfrm>
            <a:off x="7498080" y="-1097280"/>
            <a:ext cx="5943600" cy="5943600"/>
          </a:xfrm>
          <a:prstGeom prst="arc">
            <a:avLst/>
          </a:prstGeom>
          <a:solidFill>
            <a:srgbClr val="17476C">
              <a:alpha val="80000"/>
            </a:srgbClr>
          </a:solidFill>
          <a:ln w="12700">
            <a:solidFill>
              <a:srgbClr val="17476C">
                <a:alpha val="0"/>
              </a:srgbClr>
            </a:solidFill>
            <a:prstDash val="solid"/>
          </a:ln>
        </p:spPr>
        <p:txBody>
          <a:bodyPr/>
          <a:lstStyle/>
          <a:p>
            <a:endParaRPr lang="es-CL"/>
          </a:p>
        </p:txBody>
      </p:sp>
      <p:pic>
        <p:nvPicPr>
          <p:cNvPr id="5" name="Image 0" descr="/mnt/data/work_docx/word/media/image1.png"/>
          <p:cNvPicPr>
            <a:picLocks noChangeAspect="1"/>
          </p:cNvPicPr>
          <p:nvPr/>
        </p:nvPicPr>
        <p:blipFill>
          <a:blip r:embed="rId3"/>
          <a:stretch>
            <a:fillRect/>
          </a:stretch>
        </p:blipFill>
        <p:spPr>
          <a:xfrm>
            <a:off x="9875520" y="502920"/>
            <a:ext cx="1554480" cy="457200"/>
          </a:xfrm>
          <a:prstGeom prst="rect">
            <a:avLst/>
          </a:prstGeom>
        </p:spPr>
      </p:pic>
      <p:sp>
        <p:nvSpPr>
          <p:cNvPr id="6" name="Text 3"/>
          <p:cNvSpPr/>
          <p:nvPr/>
        </p:nvSpPr>
        <p:spPr>
          <a:xfrm>
            <a:off x="685800" y="685800"/>
            <a:ext cx="7589520" cy="594360"/>
          </a:xfrm>
          <a:prstGeom prst="rect">
            <a:avLst/>
          </a:prstGeom>
          <a:noFill/>
          <a:ln/>
        </p:spPr>
        <p:txBody>
          <a:bodyPr wrap="square" lIns="254" tIns="254" rIns="254" bIns="254" rtlCol="0" anchor="ctr">
            <a:normAutofit/>
          </a:bodyPr>
          <a:lstStyle/>
          <a:p>
            <a:pPr marL="0" indent="0">
              <a:buNone/>
            </a:pPr>
            <a:r>
              <a:rPr lang="en-US" sz="3400" b="1" dirty="0">
                <a:solidFill>
                  <a:srgbClr val="FFFFFF"/>
                </a:solidFill>
                <a:latin typeface="Calibri" pitchFamily="34" charset="0"/>
                <a:ea typeface="Calibri" pitchFamily="34" charset="-122"/>
                <a:cs typeface="Calibri" pitchFamily="34" charset="-120"/>
              </a:rPr>
              <a:t>9. Recomendaciones y cierre</a:t>
            </a:r>
            <a:endParaRPr lang="en-US" sz="3400" dirty="0"/>
          </a:p>
        </p:txBody>
      </p:sp>
      <p:sp>
        <p:nvSpPr>
          <p:cNvPr id="7" name="Text 4"/>
          <p:cNvSpPr/>
          <p:nvPr/>
        </p:nvSpPr>
        <p:spPr>
          <a:xfrm>
            <a:off x="777240" y="1600200"/>
            <a:ext cx="6492240" cy="3017520"/>
          </a:xfrm>
          <a:prstGeom prst="rect">
            <a:avLst/>
          </a:prstGeom>
          <a:noFill/>
          <a:ln/>
        </p:spPr>
        <p:txBody>
          <a:bodyPr wrap="square" lIns="254" tIns="254" rIns="254" bIns="254" rtlCol="0" anchor="ctr">
            <a:normAutofit/>
          </a:bodyPr>
          <a:lstStyle/>
          <a:p>
            <a:pPr marL="0" indent="0">
              <a:buNone/>
            </a:pPr>
            <a:r>
              <a:rPr lang="en-US" sz="2100" dirty="0">
                <a:solidFill>
                  <a:srgbClr val="FFFFFF"/>
                </a:solidFill>
                <a:latin typeface="Calibri" pitchFamily="34" charset="0"/>
                <a:ea typeface="Calibri" pitchFamily="34" charset="-122"/>
                <a:cs typeface="Calibri" pitchFamily="34" charset="-120"/>
              </a:rPr>
              <a:t>• Usar el modelo como apoyo preventivo, no como reemplazo del criterio meteorológico.</a:t>
            </a:r>
            <a:endParaRPr lang="en-US" sz="2100" dirty="0"/>
          </a:p>
          <a:p>
            <a:pPr marL="0" indent="0">
              <a:buNone/>
            </a:pPr>
            <a:r>
              <a:rPr lang="en-US" sz="2100" dirty="0">
                <a:solidFill>
                  <a:srgbClr val="FFFFFF"/>
                </a:solidFill>
                <a:latin typeface="Calibri" pitchFamily="34" charset="0"/>
                <a:ea typeface="Calibri" pitchFamily="34" charset="-122"/>
                <a:cs typeface="Calibri" pitchFamily="34" charset="-120"/>
              </a:rPr>
              <a:t>• Crear un tablero por ubicación, fecha y nivel de riesgo.</a:t>
            </a:r>
            <a:endParaRPr lang="en-US" sz="2100" dirty="0"/>
          </a:p>
          <a:p>
            <a:pPr marL="0" indent="0">
              <a:buNone/>
            </a:pPr>
            <a:r>
              <a:rPr lang="en-US" sz="2100" dirty="0">
                <a:solidFill>
                  <a:srgbClr val="FFFFFF"/>
                </a:solidFill>
                <a:latin typeface="Calibri" pitchFamily="34" charset="0"/>
                <a:ea typeface="Calibri" pitchFamily="34" charset="-122"/>
                <a:cs typeface="Calibri" pitchFamily="34" charset="-120"/>
              </a:rPr>
              <a:t>• Automatizar carga diaria, validación, predicción, almacenamiento y alerta.</a:t>
            </a:r>
            <a:endParaRPr lang="en-US" sz="2100" dirty="0"/>
          </a:p>
          <a:p>
            <a:pPr marL="0" indent="0">
              <a:buNone/>
            </a:pPr>
            <a:r>
              <a:rPr lang="en-US" sz="2100" dirty="0">
                <a:solidFill>
                  <a:srgbClr val="FFFFFF"/>
                </a:solidFill>
                <a:latin typeface="Calibri" pitchFamily="34" charset="0"/>
                <a:ea typeface="Calibri" pitchFamily="34" charset="-122"/>
                <a:cs typeface="Calibri" pitchFamily="34" charset="-120"/>
              </a:rPr>
              <a:t>• Monitorear F1, recall y ROC-AUC para detectar cambios de rendimiento.</a:t>
            </a:r>
            <a:endParaRPr lang="en-US" sz="2100" dirty="0"/>
          </a:p>
          <a:p>
            <a:pPr marL="0" indent="0">
              <a:buNone/>
            </a:pPr>
            <a:r>
              <a:rPr lang="en-US" sz="2100" dirty="0">
                <a:solidFill>
                  <a:srgbClr val="FFFFFF"/>
                </a:solidFill>
                <a:latin typeface="Calibri" pitchFamily="34" charset="0"/>
                <a:ea typeface="Calibri" pitchFamily="34" charset="-122"/>
                <a:cs typeface="Calibri" pitchFamily="34" charset="-120"/>
              </a:rPr>
              <a:t>• Ampliar con coordenadas geográficas, pronósticos oficiales y validación temporal.</a:t>
            </a:r>
            <a:endParaRPr lang="en-US" sz="2100" dirty="0"/>
          </a:p>
        </p:txBody>
      </p:sp>
      <p:sp>
        <p:nvSpPr>
          <p:cNvPr id="8" name="Shape 5"/>
          <p:cNvSpPr/>
          <p:nvPr/>
        </p:nvSpPr>
        <p:spPr>
          <a:xfrm>
            <a:off x="7635240" y="1691640"/>
            <a:ext cx="3520440" cy="2331720"/>
          </a:xfrm>
          <a:prstGeom prst="roundRect">
            <a:avLst>
              <a:gd name="adj" fmla="val 3137"/>
            </a:avLst>
          </a:prstGeom>
          <a:solidFill>
            <a:srgbClr val="F6B700"/>
          </a:solidFill>
          <a:ln w="12700">
            <a:solidFill>
              <a:srgbClr val="F6B700"/>
            </a:solidFill>
            <a:prstDash val="solid"/>
          </a:ln>
        </p:spPr>
        <p:txBody>
          <a:bodyPr/>
          <a:lstStyle/>
          <a:p>
            <a:endParaRPr lang="es-CL"/>
          </a:p>
        </p:txBody>
      </p:sp>
      <p:sp>
        <p:nvSpPr>
          <p:cNvPr id="9" name="Text 6"/>
          <p:cNvSpPr/>
          <p:nvPr/>
        </p:nvSpPr>
        <p:spPr>
          <a:xfrm>
            <a:off x="7909560" y="1739851"/>
            <a:ext cx="2971800" cy="320040"/>
          </a:xfrm>
          <a:prstGeom prst="rect">
            <a:avLst/>
          </a:prstGeom>
          <a:noFill/>
          <a:ln/>
        </p:spPr>
        <p:txBody>
          <a:bodyPr wrap="square" lIns="0" tIns="0" rIns="0" bIns="0" rtlCol="0" anchor="ctr"/>
          <a:lstStyle/>
          <a:p>
            <a:pPr marL="0" indent="0">
              <a:buNone/>
            </a:pPr>
            <a:r>
              <a:rPr lang="en-US" sz="2400" b="1" dirty="0">
                <a:solidFill>
                  <a:srgbClr val="0B2D4A"/>
                </a:solidFill>
              </a:rPr>
              <a:t>Conclusión</a:t>
            </a:r>
            <a:endParaRPr lang="en-US" sz="2400" dirty="0"/>
          </a:p>
        </p:txBody>
      </p:sp>
      <p:sp>
        <p:nvSpPr>
          <p:cNvPr id="10" name="Text 7"/>
          <p:cNvSpPr/>
          <p:nvPr/>
        </p:nvSpPr>
        <p:spPr>
          <a:xfrm>
            <a:off x="7909560" y="2468880"/>
            <a:ext cx="2971800" cy="1143000"/>
          </a:xfrm>
          <a:prstGeom prst="rect">
            <a:avLst/>
          </a:prstGeom>
          <a:noFill/>
          <a:ln/>
        </p:spPr>
        <p:txBody>
          <a:bodyPr wrap="square" lIns="254" tIns="254" rIns="254" bIns="254" rtlCol="0" anchor="ctr"/>
          <a:lstStyle/>
          <a:p>
            <a:pPr marL="0" indent="0">
              <a:buNone/>
            </a:pPr>
            <a:r>
              <a:rPr lang="en-US" sz="2100" dirty="0">
                <a:solidFill>
                  <a:srgbClr val="0B2D4A"/>
                </a:solidFill>
              </a:rPr>
              <a:t>weatherAUS permite construir una solución predictiva clara y trazable. El valor está en convertir patrones históricos en decisiones preventivas.</a:t>
            </a:r>
            <a:endParaRPr lang="en-US" sz="2100" dirty="0"/>
          </a:p>
        </p:txBody>
      </p:sp>
      <p:sp>
        <p:nvSpPr>
          <p:cNvPr id="11" name="Text 8"/>
          <p:cNvSpPr/>
          <p:nvPr/>
        </p:nvSpPr>
        <p:spPr>
          <a:xfrm>
            <a:off x="777240" y="5349240"/>
            <a:ext cx="2743200" cy="502920"/>
          </a:xfrm>
          <a:prstGeom prst="rect">
            <a:avLst/>
          </a:prstGeom>
          <a:noFill/>
          <a:ln/>
        </p:spPr>
        <p:txBody>
          <a:bodyPr wrap="square" lIns="254" tIns="254" rIns="254" bIns="254" rtlCol="0" anchor="ctr">
            <a:normAutofit/>
          </a:bodyPr>
          <a:lstStyle/>
          <a:p>
            <a:pPr marL="0" indent="0">
              <a:buNone/>
            </a:pPr>
            <a:r>
              <a:rPr lang="en-US" sz="3000" b="1" dirty="0">
                <a:solidFill>
                  <a:srgbClr val="F6B700"/>
                </a:solidFill>
                <a:latin typeface="Calibri" pitchFamily="34" charset="0"/>
                <a:ea typeface="Calibri" pitchFamily="34" charset="-122"/>
                <a:cs typeface="Calibri" pitchFamily="34" charset="-120"/>
              </a:rPr>
              <a:t>Gracias</a:t>
            </a:r>
            <a:endParaRPr lang="en-US" sz="3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637</Words>
  <Application>Microsoft Office PowerPoint</Application>
  <PresentationFormat>Panorámica</PresentationFormat>
  <Paragraphs>108</Paragraphs>
  <Slides>10</Slides>
  <Notes>10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10</vt:i4>
      </vt:variant>
    </vt:vector>
  </HeadingPairs>
  <TitlesOfParts>
    <vt:vector size="13"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Duoc UC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Predicción de lluvia con weatherAUS</dc:title>
  <dc:subject>BIY7121 Evaluación Final Transversal</dc:subject>
  <dc:creator>Diego Casanova / José Soto</dc:creator>
  <cp:lastModifiedBy>Diego Casanova Z.</cp:lastModifiedBy>
  <cp:revision>2</cp:revision>
  <dcterms:created xsi:type="dcterms:W3CDTF">2026-07-14T16:36:42Z</dcterms:created>
  <dcterms:modified xsi:type="dcterms:W3CDTF">2026-07-14T16:48:03Z</dcterms:modified>
</cp:coreProperties>
</file>